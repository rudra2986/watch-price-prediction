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embeddedFontLst>
    <p:embeddedFont>
      <p:font typeface="Cabin" panose="020B0604020202020204" charset="0"/>
      <p:regular r:id="rId18"/>
    </p:embeddedFont>
    <p:embeddedFont>
      <p:font typeface="Unbounde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28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5EE6CE-AD61-4C2B-9F45-BA4B99177ABE}" v="18" dt="2026-06-02T04:53:20.0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44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dra Patel" userId="f38caac6d5fdf259" providerId="LiveId" clId="{C9C6F431-21E7-40AF-9BCF-91F8DD0B3665}"/>
    <pc:docChg chg="modSld sldOrd modMainMaster">
      <pc:chgData name="Rudra Patel" userId="f38caac6d5fdf259" providerId="LiveId" clId="{C9C6F431-21E7-40AF-9BCF-91F8DD0B3665}" dt="2026-06-02T05:03:59.446" v="42" actId="20577"/>
      <pc:docMkLst>
        <pc:docMk/>
      </pc:docMkLst>
      <pc:sldChg chg="modTransition">
        <pc:chgData name="Rudra Patel" userId="f38caac6d5fdf259" providerId="LiveId" clId="{C9C6F431-21E7-40AF-9BCF-91F8DD0B3665}" dt="2026-06-02T04:53:20.097" v="17"/>
        <pc:sldMkLst>
          <pc:docMk/>
          <pc:sldMk cId="0" sldId="256"/>
        </pc:sldMkLst>
      </pc:sldChg>
      <pc:sldChg chg="modTransition">
        <pc:chgData name="Rudra Patel" userId="f38caac6d5fdf259" providerId="LiveId" clId="{C9C6F431-21E7-40AF-9BCF-91F8DD0B3665}" dt="2026-06-02T04:53:20.097" v="17"/>
        <pc:sldMkLst>
          <pc:docMk/>
          <pc:sldMk cId="0" sldId="257"/>
        </pc:sldMkLst>
      </pc:sldChg>
      <pc:sldChg chg="modSp mod modTransition">
        <pc:chgData name="Rudra Patel" userId="f38caac6d5fdf259" providerId="LiveId" clId="{C9C6F431-21E7-40AF-9BCF-91F8DD0B3665}" dt="2026-06-02T04:54:16.371" v="24" actId="20577"/>
        <pc:sldMkLst>
          <pc:docMk/>
          <pc:sldMk cId="0" sldId="258"/>
        </pc:sldMkLst>
        <pc:spChg chg="mod">
          <ac:chgData name="Rudra Patel" userId="f38caac6d5fdf259" providerId="LiveId" clId="{C9C6F431-21E7-40AF-9BCF-91F8DD0B3665}" dt="2026-06-02T04:54:16.371" v="24" actId="20577"/>
          <ac:spMkLst>
            <pc:docMk/>
            <pc:sldMk cId="0" sldId="258"/>
            <ac:spMk id="3" creationId="{00000000-0000-0000-0000-000000000000}"/>
          </ac:spMkLst>
        </pc:spChg>
      </pc:sldChg>
      <pc:sldChg chg="modSp mod modTransition">
        <pc:chgData name="Rudra Patel" userId="f38caac6d5fdf259" providerId="LiveId" clId="{C9C6F431-21E7-40AF-9BCF-91F8DD0B3665}" dt="2026-06-02T04:53:59.163" v="20" actId="20577"/>
        <pc:sldMkLst>
          <pc:docMk/>
          <pc:sldMk cId="0" sldId="259"/>
        </pc:sldMkLst>
        <pc:spChg chg="mod">
          <ac:chgData name="Rudra Patel" userId="f38caac6d5fdf259" providerId="LiveId" clId="{C9C6F431-21E7-40AF-9BCF-91F8DD0B3665}" dt="2026-06-02T04:53:59.163" v="20" actId="20577"/>
          <ac:spMkLst>
            <pc:docMk/>
            <pc:sldMk cId="0" sldId="259"/>
            <ac:spMk id="3" creationId="{00000000-0000-0000-0000-000000000000}"/>
          </ac:spMkLst>
        </pc:spChg>
      </pc:sldChg>
      <pc:sldChg chg="modSp mod modTransition">
        <pc:chgData name="Rudra Patel" userId="f38caac6d5fdf259" providerId="LiveId" clId="{C9C6F431-21E7-40AF-9BCF-91F8DD0B3665}" dt="2026-06-02T04:54:24.808" v="26" actId="20577"/>
        <pc:sldMkLst>
          <pc:docMk/>
          <pc:sldMk cId="0" sldId="260"/>
        </pc:sldMkLst>
        <pc:spChg chg="mod">
          <ac:chgData name="Rudra Patel" userId="f38caac6d5fdf259" providerId="LiveId" clId="{C9C6F431-21E7-40AF-9BCF-91F8DD0B3665}" dt="2026-06-02T04:54:24.808" v="26" actId="20577"/>
          <ac:spMkLst>
            <pc:docMk/>
            <pc:sldMk cId="0" sldId="260"/>
            <ac:spMk id="3" creationId="{00000000-0000-0000-0000-000000000000}"/>
          </ac:spMkLst>
        </pc:spChg>
      </pc:sldChg>
      <pc:sldChg chg="modSp mod modTransition">
        <pc:chgData name="Rudra Patel" userId="f38caac6d5fdf259" providerId="LiveId" clId="{C9C6F431-21E7-40AF-9BCF-91F8DD0B3665}" dt="2026-06-02T04:54:30.792" v="28" actId="20577"/>
        <pc:sldMkLst>
          <pc:docMk/>
          <pc:sldMk cId="0" sldId="261"/>
        </pc:sldMkLst>
        <pc:spChg chg="mod">
          <ac:chgData name="Rudra Patel" userId="f38caac6d5fdf259" providerId="LiveId" clId="{C9C6F431-21E7-40AF-9BCF-91F8DD0B3665}" dt="2026-06-02T04:54:30.792" v="28" actId="20577"/>
          <ac:spMkLst>
            <pc:docMk/>
            <pc:sldMk cId="0" sldId="261"/>
            <ac:spMk id="3" creationId="{00000000-0000-0000-0000-000000000000}"/>
          </ac:spMkLst>
        </pc:spChg>
      </pc:sldChg>
      <pc:sldChg chg="modSp mod ord modTransition">
        <pc:chgData name="Rudra Patel" userId="f38caac6d5fdf259" providerId="LiveId" clId="{C9C6F431-21E7-40AF-9BCF-91F8DD0B3665}" dt="2026-06-02T05:03:59.446" v="42" actId="20577"/>
        <pc:sldMkLst>
          <pc:docMk/>
          <pc:sldMk cId="0" sldId="262"/>
        </pc:sldMkLst>
        <pc:spChg chg="mod">
          <ac:chgData name="Rudra Patel" userId="f38caac6d5fdf259" providerId="LiveId" clId="{C9C6F431-21E7-40AF-9BCF-91F8DD0B3665}" dt="2026-06-02T05:03:59.446" v="42" actId="20577"/>
          <ac:spMkLst>
            <pc:docMk/>
            <pc:sldMk cId="0" sldId="262"/>
            <ac:spMk id="3" creationId="{00000000-0000-0000-0000-000000000000}"/>
          </ac:spMkLst>
        </pc:spChg>
      </pc:sldChg>
      <pc:sldChg chg="modSp mod modTransition">
        <pc:chgData name="Rudra Patel" userId="f38caac6d5fdf259" providerId="LiveId" clId="{C9C6F431-21E7-40AF-9BCF-91F8DD0B3665}" dt="2026-06-02T04:54:45.927" v="30" actId="20577"/>
        <pc:sldMkLst>
          <pc:docMk/>
          <pc:sldMk cId="0" sldId="263"/>
        </pc:sldMkLst>
        <pc:spChg chg="mod">
          <ac:chgData name="Rudra Patel" userId="f38caac6d5fdf259" providerId="LiveId" clId="{C9C6F431-21E7-40AF-9BCF-91F8DD0B3665}" dt="2026-06-02T04:54:45.927" v="30" actId="20577"/>
          <ac:spMkLst>
            <pc:docMk/>
            <pc:sldMk cId="0" sldId="263"/>
            <ac:spMk id="3" creationId="{00000000-0000-0000-0000-000000000000}"/>
          </ac:spMkLst>
        </pc:spChg>
      </pc:sldChg>
      <pc:sldChg chg="modTransition">
        <pc:chgData name="Rudra Patel" userId="f38caac6d5fdf259" providerId="LiveId" clId="{C9C6F431-21E7-40AF-9BCF-91F8DD0B3665}" dt="2026-06-02T04:53:20.097" v="17"/>
        <pc:sldMkLst>
          <pc:docMk/>
          <pc:sldMk cId="0" sldId="264"/>
        </pc:sldMkLst>
      </pc:sldChg>
      <pc:sldChg chg="modTransition">
        <pc:chgData name="Rudra Patel" userId="f38caac6d5fdf259" providerId="LiveId" clId="{C9C6F431-21E7-40AF-9BCF-91F8DD0B3665}" dt="2026-06-02T04:53:20.097" v="17"/>
        <pc:sldMkLst>
          <pc:docMk/>
          <pc:sldMk cId="0" sldId="265"/>
        </pc:sldMkLst>
      </pc:sldChg>
      <pc:sldChg chg="modTransition">
        <pc:chgData name="Rudra Patel" userId="f38caac6d5fdf259" providerId="LiveId" clId="{C9C6F431-21E7-40AF-9BCF-91F8DD0B3665}" dt="2026-06-02T04:53:20.097" v="17"/>
        <pc:sldMkLst>
          <pc:docMk/>
          <pc:sldMk cId="0" sldId="266"/>
        </pc:sldMkLst>
      </pc:sldChg>
      <pc:sldChg chg="modTransition">
        <pc:chgData name="Rudra Patel" userId="f38caac6d5fdf259" providerId="LiveId" clId="{C9C6F431-21E7-40AF-9BCF-91F8DD0B3665}" dt="2026-06-02T04:53:20.097" v="17"/>
        <pc:sldMkLst>
          <pc:docMk/>
          <pc:sldMk cId="0" sldId="267"/>
        </pc:sldMkLst>
      </pc:sldChg>
      <pc:sldChg chg="modSp mod modTransition">
        <pc:chgData name="Rudra Patel" userId="f38caac6d5fdf259" providerId="LiveId" clId="{C9C6F431-21E7-40AF-9BCF-91F8DD0B3665}" dt="2026-06-02T04:55:04.725" v="34" actId="20577"/>
        <pc:sldMkLst>
          <pc:docMk/>
          <pc:sldMk cId="0" sldId="268"/>
        </pc:sldMkLst>
        <pc:spChg chg="mod">
          <ac:chgData name="Rudra Patel" userId="f38caac6d5fdf259" providerId="LiveId" clId="{C9C6F431-21E7-40AF-9BCF-91F8DD0B3665}" dt="2026-06-02T04:55:04.725" v="34" actId="20577"/>
          <ac:spMkLst>
            <pc:docMk/>
            <pc:sldMk cId="0" sldId="268"/>
            <ac:spMk id="3" creationId="{00000000-0000-0000-0000-000000000000}"/>
          </ac:spMkLst>
        </pc:spChg>
      </pc:sldChg>
      <pc:sldChg chg="modSp mod modTransition">
        <pc:chgData name="Rudra Patel" userId="f38caac6d5fdf259" providerId="LiveId" clId="{C9C6F431-21E7-40AF-9BCF-91F8DD0B3665}" dt="2026-06-02T04:55:19.317" v="36" actId="20577"/>
        <pc:sldMkLst>
          <pc:docMk/>
          <pc:sldMk cId="0" sldId="269"/>
        </pc:sldMkLst>
        <pc:spChg chg="mod">
          <ac:chgData name="Rudra Patel" userId="f38caac6d5fdf259" providerId="LiveId" clId="{C9C6F431-21E7-40AF-9BCF-91F8DD0B3665}" dt="2026-06-02T04:55:19.317" v="36" actId="20577"/>
          <ac:spMkLst>
            <pc:docMk/>
            <pc:sldMk cId="0" sldId="269"/>
            <ac:spMk id="3" creationId="{00000000-0000-0000-0000-000000000000}"/>
          </ac:spMkLst>
        </pc:spChg>
      </pc:sldChg>
      <pc:sldChg chg="modSp mod modTransition">
        <pc:chgData name="Rudra Patel" userId="f38caac6d5fdf259" providerId="LiveId" clId="{C9C6F431-21E7-40AF-9BCF-91F8DD0B3665}" dt="2026-06-02T04:55:25.038" v="38" actId="20577"/>
        <pc:sldMkLst>
          <pc:docMk/>
          <pc:sldMk cId="0" sldId="270"/>
        </pc:sldMkLst>
        <pc:spChg chg="mod">
          <ac:chgData name="Rudra Patel" userId="f38caac6d5fdf259" providerId="LiveId" clId="{C9C6F431-21E7-40AF-9BCF-91F8DD0B3665}" dt="2026-06-02T04:55:25.038" v="38" actId="20577"/>
          <ac:spMkLst>
            <pc:docMk/>
            <pc:sldMk cId="0" sldId="270"/>
            <ac:spMk id="3" creationId="{00000000-0000-0000-0000-000000000000}"/>
          </ac:spMkLst>
        </pc:spChg>
      </pc:sldChg>
      <pc:sldMasterChg chg="modTransition modSldLayout">
        <pc:chgData name="Rudra Patel" userId="f38caac6d5fdf259" providerId="LiveId" clId="{C9C6F431-21E7-40AF-9BCF-91F8DD0B3665}" dt="2026-06-02T04:53:20.097" v="17"/>
        <pc:sldMasterMkLst>
          <pc:docMk/>
          <pc:sldMasterMk cId="0" sldId="2147483648"/>
        </pc:sldMasterMkLst>
        <pc:sldLayoutChg chg="modTransition">
          <pc:chgData name="Rudra Patel" userId="f38caac6d5fdf259" providerId="LiveId" clId="{C9C6F431-21E7-40AF-9BCF-91F8DD0B3665}" dt="2026-06-02T04:53:20.097" v="17"/>
          <pc:sldLayoutMkLst>
            <pc:docMk/>
            <pc:sldMasterMk cId="0" sldId="2147483648"/>
            <pc:sldLayoutMk cId="0" sldId="2147483649"/>
          </pc:sldLayoutMkLst>
        </pc:sldLayoutChg>
        <pc:sldLayoutChg chg="modTransition">
          <pc:chgData name="Rudra Patel" userId="f38caac6d5fdf259" providerId="LiveId" clId="{C9C6F431-21E7-40AF-9BCF-91F8DD0B3665}" dt="2026-06-02T04:53:20.097" v="17"/>
          <pc:sldLayoutMkLst>
            <pc:docMk/>
            <pc:sldMasterMk cId="0" sldId="2147483648"/>
            <pc:sldLayoutMk cId="0" sldId="2147483650"/>
          </pc:sldLayoutMkLst>
        </pc:sldLayoutChg>
        <pc:sldLayoutChg chg="modTransition">
          <pc:chgData name="Rudra Patel" userId="f38caac6d5fdf259" providerId="LiveId" clId="{C9C6F431-21E7-40AF-9BCF-91F8DD0B3665}" dt="2026-06-02T04:53:20.097" v="17"/>
          <pc:sldLayoutMkLst>
            <pc:docMk/>
            <pc:sldMasterMk cId="0" sldId="2147483648"/>
            <pc:sldLayoutMk cId="0" sldId="2147483651"/>
          </pc:sldLayoutMkLst>
        </pc:sldLayoutChg>
        <pc:sldLayoutChg chg="modTransition">
          <pc:chgData name="Rudra Patel" userId="f38caac6d5fdf259" providerId="LiveId" clId="{C9C6F431-21E7-40AF-9BCF-91F8DD0B3665}" dt="2026-06-02T04:53:20.097" v="17"/>
          <pc:sldLayoutMkLst>
            <pc:docMk/>
            <pc:sldMasterMk cId="0" sldId="2147483648"/>
            <pc:sldLayoutMk cId="0" sldId="2147483652"/>
          </pc:sldLayoutMkLst>
        </pc:sldLayoutChg>
        <pc:sldLayoutChg chg="modTransition">
          <pc:chgData name="Rudra Patel" userId="f38caac6d5fdf259" providerId="LiveId" clId="{C9C6F431-21E7-40AF-9BCF-91F8DD0B3665}" dt="2026-06-02T04:53:20.097" v="17"/>
          <pc:sldLayoutMkLst>
            <pc:docMk/>
            <pc:sldMasterMk cId="0" sldId="2147483648"/>
            <pc:sldLayoutMk cId="0" sldId="2147483653"/>
          </pc:sldLayoutMkLst>
        </pc:sldLayoutChg>
        <pc:sldLayoutChg chg="modTransition">
          <pc:chgData name="Rudra Patel" userId="f38caac6d5fdf259" providerId="LiveId" clId="{C9C6F431-21E7-40AF-9BCF-91F8DD0B3665}" dt="2026-06-02T04:53:20.097" v="17"/>
          <pc:sldLayoutMkLst>
            <pc:docMk/>
            <pc:sldMasterMk cId="0" sldId="2147483648"/>
            <pc:sldLayoutMk cId="0" sldId="2147483654"/>
          </pc:sldLayoutMkLst>
        </pc:sldLayoutChg>
        <pc:sldLayoutChg chg="modTransition">
          <pc:chgData name="Rudra Patel" userId="f38caac6d5fdf259" providerId="LiveId" clId="{C9C6F431-21E7-40AF-9BCF-91F8DD0B3665}" dt="2026-06-02T04:53:20.097" v="17"/>
          <pc:sldLayoutMkLst>
            <pc:docMk/>
            <pc:sldMasterMk cId="0" sldId="2147483648"/>
            <pc:sldLayoutMk cId="0" sldId="2147483655"/>
          </pc:sldLayoutMkLst>
        </pc:sldLayoutChg>
        <pc:sldLayoutChg chg="modTransition">
          <pc:chgData name="Rudra Patel" userId="f38caac6d5fdf259" providerId="LiveId" clId="{C9C6F431-21E7-40AF-9BCF-91F8DD0B3665}" dt="2026-06-02T04:53:20.097" v="17"/>
          <pc:sldLayoutMkLst>
            <pc:docMk/>
            <pc:sldMasterMk cId="0" sldId="2147483648"/>
            <pc:sldLayoutMk cId="0" sldId="2147483656"/>
          </pc:sldLayoutMkLst>
        </pc:sldLayoutChg>
        <pc:sldLayoutChg chg="modTransition">
          <pc:chgData name="Rudra Patel" userId="f38caac6d5fdf259" providerId="LiveId" clId="{C9C6F431-21E7-40AF-9BCF-91F8DD0B3665}" dt="2026-06-02T04:53:20.097" v="17"/>
          <pc:sldLayoutMkLst>
            <pc:docMk/>
            <pc:sldMasterMk cId="0" sldId="2147483648"/>
            <pc:sldLayoutMk cId="0" sldId="2147483657"/>
          </pc:sldLayoutMkLst>
        </pc:sldLayoutChg>
        <pc:sldLayoutChg chg="modTransition">
          <pc:chgData name="Rudra Patel" userId="f38caac6d5fdf259" providerId="LiveId" clId="{C9C6F431-21E7-40AF-9BCF-91F8DD0B3665}" dt="2026-06-02T04:53:20.097" v="17"/>
          <pc:sldLayoutMkLst>
            <pc:docMk/>
            <pc:sldMasterMk cId="0" sldId="2147483648"/>
            <pc:sldLayoutMk cId="0" sldId="2147483658"/>
          </pc:sldLayoutMkLst>
        </pc:sldLayoutChg>
        <pc:sldLayoutChg chg="modTransition">
          <pc:chgData name="Rudra Patel" userId="f38caac6d5fdf259" providerId="LiveId" clId="{C9C6F431-21E7-40AF-9BCF-91F8DD0B3665}" dt="2026-06-02T04:53:20.097" v="17"/>
          <pc:sldLayoutMkLst>
            <pc:docMk/>
            <pc:sldMasterMk cId="0" sldId="2147483648"/>
            <pc:sldLayoutMk cId="0" sldId="2147483659"/>
          </pc:sldLayoutMkLst>
        </pc:sldLayoutChg>
        <pc:sldLayoutChg chg="modTransition">
          <pc:chgData name="Rudra Patel" userId="f38caac6d5fdf259" providerId="LiveId" clId="{C9C6F431-21E7-40AF-9BCF-91F8DD0B3665}" dt="2026-06-02T04:53:20.097" v="17"/>
          <pc:sldLayoutMkLst>
            <pc:docMk/>
            <pc:sldMasterMk cId="0" sldId="2147483648"/>
            <pc:sldLayoutMk cId="0" sldId="2147483660"/>
          </pc:sldLayoutMkLst>
        </pc:sldLayoutChg>
        <pc:sldLayoutChg chg="modTransition">
          <pc:chgData name="Rudra Patel" userId="f38caac6d5fdf259" providerId="LiveId" clId="{C9C6F431-21E7-40AF-9BCF-91F8DD0B3665}" dt="2026-06-02T04:53:20.097" v="17"/>
          <pc:sldLayoutMkLst>
            <pc:docMk/>
            <pc:sldMasterMk cId="0" sldId="2147483648"/>
            <pc:sldLayoutMk cId="0" sldId="2147483661"/>
          </pc:sldLayoutMkLst>
        </pc:sldLayoutChg>
        <pc:sldLayoutChg chg="modTransition">
          <pc:chgData name="Rudra Patel" userId="f38caac6d5fdf259" providerId="LiveId" clId="{C9C6F431-21E7-40AF-9BCF-91F8DD0B3665}" dt="2026-06-02T04:53:20.097" v="17"/>
          <pc:sldLayoutMkLst>
            <pc:docMk/>
            <pc:sldMasterMk cId="0" sldId="2147483648"/>
            <pc:sldLayoutMk cId="0" sldId="2147483662"/>
          </pc:sldLayoutMkLst>
        </pc:sldLayoutChg>
        <pc:sldLayoutChg chg="modTransition">
          <pc:chgData name="Rudra Patel" userId="f38caac6d5fdf259" providerId="LiveId" clId="{C9C6F431-21E7-40AF-9BCF-91F8DD0B3665}" dt="2026-06-02T04:53:20.097" v="17"/>
          <pc:sldLayoutMkLst>
            <pc:docMk/>
            <pc:sldMasterMk cId="0" sldId="2147483648"/>
            <pc:sldLayoutMk cId="0" sldId="2147483663"/>
          </pc:sldLayoutMkLst>
        </pc:sldLayoutChg>
        <pc:sldLayoutChg chg="modTransition">
          <pc:chgData name="Rudra Patel" userId="f38caac6d5fdf259" providerId="LiveId" clId="{C9C6F431-21E7-40AF-9BCF-91F8DD0B3665}" dt="2026-06-02T04:53:20.097" v="17"/>
          <pc:sldLayoutMkLst>
            <pc:docMk/>
            <pc:sldMasterMk cId="0" sldId="2147483648"/>
            <pc:sldLayoutMk cId="0" sldId="2147483664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6341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Rudra2986/watch-price-prediction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sv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5.sv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4.svg"/><Relationship Id="rId5" Type="http://schemas.openxmlformats.org/officeDocument/2006/relationships/image" Target="../media/image33.svg"/><Relationship Id="rId4" Type="http://schemas.openxmlformats.org/officeDocument/2006/relationships/image" Target="../media/image32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udra2986/watch-price-prediction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hyperlink" Target="https://watch-price-prediction-hb4gx4m9xblacyzmngakpe.streamlit.ap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52577" y="489421"/>
            <a:ext cx="1271885" cy="160958"/>
          </a:xfrm>
          <a:prstGeom prst="roundRect">
            <a:avLst>
              <a:gd name="adj" fmla="val 7250"/>
            </a:avLst>
          </a:prstGeom>
          <a:solidFill>
            <a:srgbClr val="054842"/>
          </a:solidFill>
          <a:ln/>
        </p:spPr>
      </p:sp>
      <p:sp>
        <p:nvSpPr>
          <p:cNvPr id="4" name="Text 1"/>
          <p:cNvSpPr/>
          <p:nvPr/>
        </p:nvSpPr>
        <p:spPr>
          <a:xfrm>
            <a:off x="4010918" y="518592"/>
            <a:ext cx="1612404" cy="102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INTERNSHIP PROJECT · VERACITIZ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3952577" y="675605"/>
            <a:ext cx="3614886" cy="394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Chronos AI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3952577" y="1165027"/>
            <a:ext cx="3728145" cy="285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Watch Price Intelligence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952577" y="1545803"/>
            <a:ext cx="5125045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An End-to-End Machine Learning Solution for Real-Time Price Prediction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952577" y="1923157"/>
            <a:ext cx="1513805" cy="1072976"/>
          </a:xfrm>
          <a:prstGeom prst="roundRect">
            <a:avLst>
              <a:gd name="adj" fmla="val 6392"/>
            </a:avLst>
          </a:prstGeom>
          <a:solidFill>
            <a:srgbClr val="112836"/>
          </a:solidFill>
          <a:ln w="14288">
            <a:solidFill>
              <a:srgbClr val="49606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952577" y="1908870"/>
            <a:ext cx="1513805" cy="57150"/>
          </a:xfrm>
          <a:prstGeom prst="roundRect">
            <a:avLst>
              <a:gd name="adj" fmla="val 25525"/>
            </a:avLst>
          </a:prstGeom>
          <a:solidFill>
            <a:srgbClr val="0A988B"/>
          </a:solidFill>
          <a:ln/>
        </p:spPr>
      </p:sp>
      <p:sp>
        <p:nvSpPr>
          <p:cNvPr id="10" name="Shape 7"/>
          <p:cNvSpPr/>
          <p:nvPr/>
        </p:nvSpPr>
        <p:spPr>
          <a:xfrm>
            <a:off x="4563591" y="1777305"/>
            <a:ext cx="291703" cy="291703"/>
          </a:xfrm>
          <a:prstGeom prst="roundRect">
            <a:avLst>
              <a:gd name="adj" fmla="val 195918"/>
            </a:avLst>
          </a:prstGeom>
          <a:solidFill>
            <a:srgbClr val="0A988B"/>
          </a:solidFill>
          <a:ln/>
        </p:spPr>
      </p:sp>
      <p:sp>
        <p:nvSpPr>
          <p:cNvPr id="11" name="Text 8"/>
          <p:cNvSpPr/>
          <p:nvPr/>
        </p:nvSpPr>
        <p:spPr>
          <a:xfrm>
            <a:off x="4064050" y="2166268"/>
            <a:ext cx="1290861" cy="394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1,488</a:t>
            </a:r>
            <a:endParaRPr lang="en-US" sz="2450" dirty="0"/>
          </a:p>
        </p:txBody>
      </p:sp>
      <p:sp>
        <p:nvSpPr>
          <p:cNvPr id="12" name="Text 9"/>
          <p:cNvSpPr/>
          <p:nvPr/>
        </p:nvSpPr>
        <p:spPr>
          <a:xfrm>
            <a:off x="4064050" y="2598762"/>
            <a:ext cx="1290861" cy="2858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Watch Records Analyzed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529560" y="1923157"/>
            <a:ext cx="1513805" cy="1072976"/>
          </a:xfrm>
          <a:prstGeom prst="roundRect">
            <a:avLst>
              <a:gd name="adj" fmla="val 6392"/>
            </a:avLst>
          </a:prstGeom>
          <a:solidFill>
            <a:srgbClr val="112836"/>
          </a:solidFill>
          <a:ln w="14288">
            <a:solidFill>
              <a:srgbClr val="49606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529560" y="1908870"/>
            <a:ext cx="1513805" cy="57150"/>
          </a:xfrm>
          <a:prstGeom prst="roundRect">
            <a:avLst>
              <a:gd name="adj" fmla="val 25525"/>
            </a:avLst>
          </a:prstGeom>
          <a:solidFill>
            <a:srgbClr val="0A988B"/>
          </a:solidFill>
          <a:ln/>
        </p:spPr>
      </p:sp>
      <p:sp>
        <p:nvSpPr>
          <p:cNvPr id="15" name="Shape 12"/>
          <p:cNvSpPr/>
          <p:nvPr/>
        </p:nvSpPr>
        <p:spPr>
          <a:xfrm>
            <a:off x="6140574" y="1777305"/>
            <a:ext cx="291703" cy="291703"/>
          </a:xfrm>
          <a:prstGeom prst="roundRect">
            <a:avLst>
              <a:gd name="adj" fmla="val 195918"/>
            </a:avLst>
          </a:prstGeom>
          <a:solidFill>
            <a:srgbClr val="0A988B"/>
          </a:solidFill>
          <a:ln/>
        </p:spPr>
      </p:sp>
      <p:sp>
        <p:nvSpPr>
          <p:cNvPr id="16" name="Text 13"/>
          <p:cNvSpPr/>
          <p:nvPr/>
        </p:nvSpPr>
        <p:spPr>
          <a:xfrm>
            <a:off x="5641032" y="2166268"/>
            <a:ext cx="1290861" cy="394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6</a:t>
            </a:r>
            <a:endParaRPr lang="en-US" sz="2450" dirty="0"/>
          </a:p>
        </p:txBody>
      </p:sp>
      <p:sp>
        <p:nvSpPr>
          <p:cNvPr id="17" name="Text 14"/>
          <p:cNvSpPr/>
          <p:nvPr/>
        </p:nvSpPr>
        <p:spPr>
          <a:xfrm>
            <a:off x="5641032" y="2598762"/>
            <a:ext cx="1290861" cy="2858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Regression Models Evaluated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7106543" y="1923157"/>
            <a:ext cx="1513880" cy="1072976"/>
          </a:xfrm>
          <a:prstGeom prst="roundRect">
            <a:avLst>
              <a:gd name="adj" fmla="val 6392"/>
            </a:avLst>
          </a:prstGeom>
          <a:solidFill>
            <a:srgbClr val="112836"/>
          </a:solidFill>
          <a:ln w="14288">
            <a:solidFill>
              <a:srgbClr val="49606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106543" y="1908870"/>
            <a:ext cx="1513880" cy="57150"/>
          </a:xfrm>
          <a:prstGeom prst="roundRect">
            <a:avLst>
              <a:gd name="adj" fmla="val 25525"/>
            </a:avLst>
          </a:prstGeom>
          <a:solidFill>
            <a:srgbClr val="0A988B"/>
          </a:solidFill>
          <a:ln/>
        </p:spPr>
      </p:sp>
      <p:sp>
        <p:nvSpPr>
          <p:cNvPr id="20" name="Shape 17"/>
          <p:cNvSpPr/>
          <p:nvPr/>
        </p:nvSpPr>
        <p:spPr>
          <a:xfrm>
            <a:off x="7717631" y="1777305"/>
            <a:ext cx="291703" cy="291703"/>
          </a:xfrm>
          <a:prstGeom prst="roundRect">
            <a:avLst>
              <a:gd name="adj" fmla="val 195918"/>
            </a:avLst>
          </a:prstGeom>
          <a:solidFill>
            <a:srgbClr val="0A988B"/>
          </a:solidFill>
          <a:ln/>
        </p:spPr>
      </p:sp>
      <p:sp>
        <p:nvSpPr>
          <p:cNvPr id="21" name="Text 18"/>
          <p:cNvSpPr/>
          <p:nvPr/>
        </p:nvSpPr>
        <p:spPr>
          <a:xfrm>
            <a:off x="7218015" y="2166268"/>
            <a:ext cx="1290935" cy="394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71%</a:t>
            </a:r>
            <a:endParaRPr lang="en-US" sz="2450" dirty="0"/>
          </a:p>
        </p:txBody>
      </p:sp>
      <p:sp>
        <p:nvSpPr>
          <p:cNvPr id="22" name="Text 19"/>
          <p:cNvSpPr/>
          <p:nvPr/>
        </p:nvSpPr>
        <p:spPr>
          <a:xfrm>
            <a:off x="7218015" y="2598762"/>
            <a:ext cx="1231999" cy="142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R² Score Achieved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952577" y="3205163"/>
            <a:ext cx="4667845" cy="930027"/>
          </a:xfrm>
          <a:prstGeom prst="roundRect">
            <a:avLst>
              <a:gd name="adj" fmla="val 7374"/>
            </a:avLst>
          </a:prstGeom>
          <a:solidFill>
            <a:srgbClr val="112836"/>
          </a:solidFill>
          <a:ln w="14288">
            <a:solidFill>
              <a:srgbClr val="49606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952577" y="3190875"/>
            <a:ext cx="4667845" cy="57150"/>
          </a:xfrm>
          <a:prstGeom prst="roundRect">
            <a:avLst>
              <a:gd name="adj" fmla="val 25525"/>
            </a:avLst>
          </a:prstGeom>
          <a:solidFill>
            <a:srgbClr val="0A988B"/>
          </a:solidFill>
          <a:ln/>
        </p:spPr>
      </p:sp>
      <p:sp>
        <p:nvSpPr>
          <p:cNvPr id="25" name="Shape 22"/>
          <p:cNvSpPr/>
          <p:nvPr/>
        </p:nvSpPr>
        <p:spPr>
          <a:xfrm>
            <a:off x="6140648" y="3059311"/>
            <a:ext cx="291703" cy="291703"/>
          </a:xfrm>
          <a:prstGeom prst="roundRect">
            <a:avLst>
              <a:gd name="adj" fmla="val 195918"/>
            </a:avLst>
          </a:prstGeom>
          <a:solidFill>
            <a:srgbClr val="0A988B"/>
          </a:solidFill>
          <a:ln/>
        </p:spPr>
      </p:sp>
      <p:sp>
        <p:nvSpPr>
          <p:cNvPr id="26" name="Text 23"/>
          <p:cNvSpPr/>
          <p:nvPr/>
        </p:nvSpPr>
        <p:spPr>
          <a:xfrm>
            <a:off x="4064050" y="3448273"/>
            <a:ext cx="3157686" cy="394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Ready</a:t>
            </a:r>
            <a:endParaRPr lang="en-US" sz="2450" dirty="0"/>
          </a:p>
        </p:txBody>
      </p:sp>
      <p:sp>
        <p:nvSpPr>
          <p:cNvPr id="27" name="Text 24"/>
          <p:cNvSpPr/>
          <p:nvPr/>
        </p:nvSpPr>
        <p:spPr>
          <a:xfrm>
            <a:off x="4064050" y="3880768"/>
            <a:ext cx="2085082" cy="142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Production-Ready Deployment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3952577" y="4230514"/>
            <a:ext cx="4667845" cy="7293"/>
          </a:xfrm>
          <a:prstGeom prst="rect">
            <a:avLst/>
          </a:prstGeom>
          <a:solidFill>
            <a:srgbClr val="CAD6DE">
              <a:alpha val="50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3952577" y="4333131"/>
            <a:ext cx="4667845" cy="320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Machine Learning Internship Project</a:t>
            </a: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· Veracitiz</a:t>
            </a:r>
            <a:endParaRPr lang="en-US" sz="9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950" u="sng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https://github.com/Rudra2986/watch-price-prediction</a:t>
            </a:r>
            <a:endParaRPr lang="en-US" sz="950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5C033B1-B541-AA09-7506-CBC2F4347242}"/>
              </a:ext>
            </a:extLst>
          </p:cNvPr>
          <p:cNvSpPr/>
          <p:nvPr/>
        </p:nvSpPr>
        <p:spPr>
          <a:xfrm>
            <a:off x="8009334" y="4813663"/>
            <a:ext cx="1068288" cy="298994"/>
          </a:xfrm>
          <a:prstGeom prst="roundRect">
            <a:avLst/>
          </a:prstGeom>
          <a:solidFill>
            <a:srgbClr val="112836"/>
          </a:solidFill>
          <a:ln>
            <a:solidFill>
              <a:srgbClr val="1128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5392" y="410394"/>
            <a:ext cx="1171575" cy="198537"/>
          </a:xfrm>
          <a:prstGeom prst="roundRect">
            <a:avLst>
              <a:gd name="adj" fmla="val 6676"/>
            </a:avLst>
          </a:prstGeom>
          <a:noFill/>
          <a:ln w="4763">
            <a:solidFill>
              <a:srgbClr val="0A98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6383" y="448270"/>
            <a:ext cx="1486793" cy="122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650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01 · PROBLEM STATEMENT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5392" y="641524"/>
            <a:ext cx="4178871" cy="324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The Valuation Challenge</a:t>
            </a:r>
            <a:endParaRPr lang="en-US" sz="2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1104" y="1180356"/>
            <a:ext cx="2511103" cy="11073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2972" y="1305074"/>
            <a:ext cx="152980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Inconsistent Pricing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82972" y="1548929"/>
            <a:ext cx="2204517" cy="614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Watch prices vary significantly across brand, material, movement type, and design — making manual valuation unreliable and time-consuming.</a:t>
            </a:r>
            <a:endParaRPr lang="en-US" sz="8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061" y="1180356"/>
            <a:ext cx="2594967" cy="95383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53929" y="1305074"/>
            <a:ext cx="159082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No Scalable Solution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3453929" y="1548929"/>
            <a:ext cx="2288381" cy="460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Existing approaches lack an automated, data-driven method to estimate prices at scale for e-commerce platforms.</a:t>
            </a:r>
            <a:endParaRPr lang="en-US" sz="8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26882" y="1180356"/>
            <a:ext cx="2511103" cy="95383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308750" y="1305074"/>
            <a:ext cx="1299418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Our Goal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6308750" y="1548929"/>
            <a:ext cx="2204517" cy="460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Build an ML model that accurately predicts watch prices using historical data — from raw input to </a:t>
            </a:r>
            <a:r>
              <a:rPr lang="en-US" sz="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real-time price output</a:t>
            </a:r>
            <a:r>
              <a:rPr lang="en-US" sz="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.</a:t>
            </a:r>
            <a:endParaRPr lang="en-US" sz="8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39367" y="2471068"/>
            <a:ext cx="5465192" cy="197837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240598" y="3971558"/>
            <a:ext cx="1288436" cy="160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Predicted Price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2240598" y="3375257"/>
            <a:ext cx="1288436" cy="160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AI Model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2240598" y="2772872"/>
            <a:ext cx="1288436" cy="16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Problem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15392" y="4541118"/>
            <a:ext cx="8570416" cy="191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This end-to-end pipeline transforms raw watch attributes into reliable price predictions, eliminating manual effort and inconsistency.</a:t>
            </a:r>
            <a:endParaRPr lang="en-US" sz="105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F91C088-E16C-2FD8-60AD-1E5EF83952A3}"/>
              </a:ext>
            </a:extLst>
          </p:cNvPr>
          <p:cNvSpPr/>
          <p:nvPr/>
        </p:nvSpPr>
        <p:spPr>
          <a:xfrm>
            <a:off x="8009334" y="4813663"/>
            <a:ext cx="1068288" cy="298994"/>
          </a:xfrm>
          <a:prstGeom prst="roundRect">
            <a:avLst/>
          </a:prstGeom>
          <a:solidFill>
            <a:srgbClr val="112836"/>
          </a:solidFill>
          <a:ln>
            <a:solidFill>
              <a:srgbClr val="1128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420737"/>
            <a:ext cx="1040234" cy="202406"/>
          </a:xfrm>
          <a:prstGeom prst="roundRect">
            <a:avLst>
              <a:gd name="adj" fmla="val 6653"/>
            </a:avLst>
          </a:prstGeom>
          <a:noFill/>
          <a:ln w="4763">
            <a:solidFill>
              <a:srgbClr val="0A98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5610" y="459135"/>
            <a:ext cx="1353369" cy="125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700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02 · PROJECT PIPELINE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23577" y="656779"/>
            <a:ext cx="3192810" cy="330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Project Workflow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523577" y="1113011"/>
            <a:ext cx="224358" cy="1401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23577" y="1289298"/>
            <a:ext cx="4006379" cy="14288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7" name="Text 5"/>
          <p:cNvSpPr/>
          <p:nvPr/>
        </p:nvSpPr>
        <p:spPr>
          <a:xfrm>
            <a:off x="523577" y="1373907"/>
            <a:ext cx="1320105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Raw Data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23577" y="1589336"/>
            <a:ext cx="4006379" cy="157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Collect the source watch records and attributes.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614044" y="1113011"/>
            <a:ext cx="224358" cy="1401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614044" y="1289298"/>
            <a:ext cx="4006379" cy="14288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11" name="Text 9"/>
          <p:cNvSpPr/>
          <p:nvPr/>
        </p:nvSpPr>
        <p:spPr>
          <a:xfrm>
            <a:off x="4614044" y="1373907"/>
            <a:ext cx="1320105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 Cleaning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14044" y="1589336"/>
            <a:ext cx="4006379" cy="157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Remove errors, duplicates, and missing values.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23577" y="1914599"/>
            <a:ext cx="224358" cy="1401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03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23577" y="2090886"/>
            <a:ext cx="4006379" cy="14288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15" name="Text 13"/>
          <p:cNvSpPr/>
          <p:nvPr/>
        </p:nvSpPr>
        <p:spPr>
          <a:xfrm>
            <a:off x="523577" y="2175495"/>
            <a:ext cx="1320105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EDA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3577" y="2390924"/>
            <a:ext cx="4006379" cy="157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Explore trends, patterns, and key relationships.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614044" y="1914599"/>
            <a:ext cx="224358" cy="1401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04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14044" y="2090886"/>
            <a:ext cx="4006379" cy="14288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19" name="Text 17"/>
          <p:cNvSpPr/>
          <p:nvPr/>
        </p:nvSpPr>
        <p:spPr>
          <a:xfrm>
            <a:off x="4614044" y="2175495"/>
            <a:ext cx="1580480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Feature Engineering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14044" y="2390924"/>
            <a:ext cx="4006379" cy="157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Transform raw inputs into model-ready signals.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23577" y="2716188"/>
            <a:ext cx="224358" cy="1401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05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23577" y="2892475"/>
            <a:ext cx="4006379" cy="14288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23" name="Text 21"/>
          <p:cNvSpPr/>
          <p:nvPr/>
        </p:nvSpPr>
        <p:spPr>
          <a:xfrm>
            <a:off x="523577" y="2977083"/>
            <a:ext cx="1320105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Model Training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3577" y="3192512"/>
            <a:ext cx="4006379" cy="157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Train predictive models on prepared data.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614044" y="2716188"/>
            <a:ext cx="224358" cy="1401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06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614044" y="2892475"/>
            <a:ext cx="4006379" cy="14288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27" name="Text 25"/>
          <p:cNvSpPr/>
          <p:nvPr/>
        </p:nvSpPr>
        <p:spPr>
          <a:xfrm>
            <a:off x="4614044" y="2977083"/>
            <a:ext cx="1320105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Evaluation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14044" y="3192512"/>
            <a:ext cx="4006379" cy="157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Measure accuracy and compare model performance.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23577" y="3517776"/>
            <a:ext cx="224358" cy="1401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07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23577" y="3694063"/>
            <a:ext cx="4006379" cy="14288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31" name="Text 29"/>
          <p:cNvSpPr/>
          <p:nvPr/>
        </p:nvSpPr>
        <p:spPr>
          <a:xfrm>
            <a:off x="523577" y="3778672"/>
            <a:ext cx="1873746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Hyperparameter Tuning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23577" y="3994100"/>
            <a:ext cx="4006379" cy="157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Optimize settings to improve prediction quality.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614044" y="3517776"/>
            <a:ext cx="224358" cy="1401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08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14044" y="3694063"/>
            <a:ext cx="4006379" cy="14288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35" name="Text 33"/>
          <p:cNvSpPr/>
          <p:nvPr/>
        </p:nvSpPr>
        <p:spPr>
          <a:xfrm>
            <a:off x="4614044" y="3778672"/>
            <a:ext cx="1320105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614044" y="3994100"/>
            <a:ext cx="4006379" cy="157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Launch the final model for real-time use.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23577" y="4329931"/>
            <a:ext cx="8096845" cy="392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 streamlined end-to-end workflow that summarizes the full project from raw data to deployment, giving a fast, professional overview at a glance.</a:t>
            </a:r>
            <a:endParaRPr lang="en-US" sz="1100" dirty="0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03798714-7F6A-4AC1-4A88-27D28B588AA7}"/>
              </a:ext>
            </a:extLst>
          </p:cNvPr>
          <p:cNvSpPr/>
          <p:nvPr/>
        </p:nvSpPr>
        <p:spPr>
          <a:xfrm>
            <a:off x="8009334" y="4820194"/>
            <a:ext cx="1068288" cy="298994"/>
          </a:xfrm>
          <a:prstGeom prst="roundRect">
            <a:avLst/>
          </a:prstGeom>
          <a:solidFill>
            <a:srgbClr val="112836"/>
          </a:solidFill>
          <a:ln>
            <a:solidFill>
              <a:srgbClr val="1128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533772"/>
            <a:ext cx="1180430" cy="290661"/>
          </a:xfrm>
          <a:prstGeom prst="roundRect">
            <a:avLst>
              <a:gd name="adj" fmla="val 6177"/>
            </a:avLst>
          </a:prstGeom>
          <a:noFill/>
          <a:ln w="4763">
            <a:solidFill>
              <a:srgbClr val="0A98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8083" y="583406"/>
            <a:ext cx="1448619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02 · TECHNOLOGY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23577" y="884262"/>
            <a:ext cx="4179763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Technology Stack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523577" y="1548631"/>
            <a:ext cx="8554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Display the complete technology stack used in the project with modern icons and clean visual cards:</a:t>
            </a:r>
            <a:endParaRPr lang="en-US" sz="11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577" y="1956271"/>
            <a:ext cx="374005" cy="37400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84585" y="1956271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Python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084585" y="2265983"/>
            <a:ext cx="201327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Programming Language</a:t>
            </a:r>
            <a:endParaRPr lang="en-US" sz="11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84860" y="1956271"/>
            <a:ext cx="374005" cy="37400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45868" y="1956271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Pandas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3845868" y="2265983"/>
            <a:ext cx="201327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Data Manipulation</a:t>
            </a:r>
            <a:endParaRPr lang="en-US" sz="11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46143" y="1956271"/>
            <a:ext cx="374005" cy="37400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607150" y="1956271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NumPy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607150" y="2265983"/>
            <a:ext cx="201327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Numerical Computing</a:t>
            </a:r>
            <a:endParaRPr lang="en-US" sz="11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77" y="2804592"/>
            <a:ext cx="374005" cy="37400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84585" y="2804592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Scikit-Learn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1084585" y="3114303"/>
            <a:ext cx="201327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ML Preprocessing</a:t>
            </a:r>
            <a:endParaRPr lang="en-US" sz="11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84860" y="2804592"/>
            <a:ext cx="374005" cy="37400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845868" y="2804592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CatBoost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3845868" y="3114303"/>
            <a:ext cx="201327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Gradient Boosting</a:t>
            </a:r>
            <a:endParaRPr lang="en-US" sz="115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46143" y="2804592"/>
            <a:ext cx="374005" cy="374005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607150" y="2804592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Optuna</a:t>
            </a:r>
            <a:endParaRPr lang="en-US" sz="1350" dirty="0"/>
          </a:p>
        </p:txBody>
      </p:sp>
      <p:sp>
        <p:nvSpPr>
          <p:cNvPr id="23" name="Text 15"/>
          <p:cNvSpPr/>
          <p:nvPr/>
        </p:nvSpPr>
        <p:spPr>
          <a:xfrm>
            <a:off x="6607150" y="3114303"/>
            <a:ext cx="201327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Hyperparameter Tuning</a:t>
            </a:r>
            <a:endParaRPr lang="en-US" sz="115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3577" y="3652912"/>
            <a:ext cx="374005" cy="374005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084585" y="3652912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SHAP</a:t>
            </a:r>
            <a:endParaRPr lang="en-US" sz="1350" dirty="0"/>
          </a:p>
        </p:txBody>
      </p:sp>
      <p:sp>
        <p:nvSpPr>
          <p:cNvPr id="26" name="Text 17"/>
          <p:cNvSpPr/>
          <p:nvPr/>
        </p:nvSpPr>
        <p:spPr>
          <a:xfrm>
            <a:off x="1084585" y="3962623"/>
            <a:ext cx="201327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Explainability</a:t>
            </a:r>
            <a:endParaRPr lang="en-US" sz="115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84860" y="3652912"/>
            <a:ext cx="374005" cy="374005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3845868" y="3652912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Streamlit</a:t>
            </a:r>
            <a:endParaRPr lang="en-US" sz="1350" dirty="0"/>
          </a:p>
        </p:txBody>
      </p:sp>
      <p:sp>
        <p:nvSpPr>
          <p:cNvPr id="29" name="Text 19"/>
          <p:cNvSpPr/>
          <p:nvPr/>
        </p:nvSpPr>
        <p:spPr>
          <a:xfrm>
            <a:off x="3845868" y="3962623"/>
            <a:ext cx="201327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Web Deployment</a:t>
            </a:r>
            <a:endParaRPr lang="en-US" sz="1150" dirty="0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046143" y="3652912"/>
            <a:ext cx="374005" cy="374005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6607150" y="3652912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GitHub</a:t>
            </a:r>
            <a:endParaRPr lang="en-US" sz="1350" dirty="0"/>
          </a:p>
        </p:txBody>
      </p:sp>
      <p:sp>
        <p:nvSpPr>
          <p:cNvPr id="32" name="Text 21"/>
          <p:cNvSpPr/>
          <p:nvPr/>
        </p:nvSpPr>
        <p:spPr>
          <a:xfrm>
            <a:off x="6607150" y="3962623"/>
            <a:ext cx="201327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Version Control</a:t>
            </a:r>
            <a:endParaRPr lang="en-US" sz="1150" dirty="0"/>
          </a:p>
        </p:txBody>
      </p:sp>
      <p:sp>
        <p:nvSpPr>
          <p:cNvPr id="33" name="Text 22"/>
          <p:cNvSpPr/>
          <p:nvPr/>
        </p:nvSpPr>
        <p:spPr>
          <a:xfrm>
            <a:off x="523577" y="4370263"/>
            <a:ext cx="8554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 modern, production-grade tech stack combining data science, machine learning, and web deployment tools.</a:t>
            </a:r>
            <a:endParaRPr lang="en-US" sz="1150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EBF20F1-D1EE-5EB4-FC7D-C3BDE63F803E}"/>
              </a:ext>
            </a:extLst>
          </p:cNvPr>
          <p:cNvSpPr/>
          <p:nvPr/>
        </p:nvSpPr>
        <p:spPr>
          <a:xfrm>
            <a:off x="8009334" y="4813663"/>
            <a:ext cx="1068288" cy="298994"/>
          </a:xfrm>
          <a:prstGeom prst="roundRect">
            <a:avLst/>
          </a:prstGeom>
          <a:solidFill>
            <a:srgbClr val="112836"/>
          </a:solidFill>
          <a:ln>
            <a:solidFill>
              <a:srgbClr val="1128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9941" y="339030"/>
            <a:ext cx="407863" cy="111472"/>
          </a:xfrm>
          <a:prstGeom prst="roundRect">
            <a:avLst>
              <a:gd name="adj" fmla="val 7197"/>
            </a:avLst>
          </a:prstGeom>
          <a:noFill/>
          <a:ln w="4763">
            <a:solidFill>
              <a:srgbClr val="0A98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4812" y="363810"/>
            <a:ext cx="775320" cy="61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00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03· DATASET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359941" y="462409"/>
            <a:ext cx="2157115" cy="196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Dataset Overview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59941" y="703808"/>
            <a:ext cx="8784059" cy="77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</a:t>
            </a:r>
            <a:r>
              <a:rPr lang="en-US" sz="5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WatchVine E-Commerce Dataset</a:t>
            </a:r>
            <a:r>
              <a:rPr lang="en-US" sz="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was scraped and cleaned to support production-grade watch price modeling.</a:t>
            </a:r>
            <a:endParaRPr lang="en-US" sz="500" dirty="0"/>
          </a:p>
        </p:txBody>
      </p:sp>
      <p:sp>
        <p:nvSpPr>
          <p:cNvPr id="6" name="Text 4"/>
          <p:cNvSpPr/>
          <p:nvPr/>
        </p:nvSpPr>
        <p:spPr>
          <a:xfrm>
            <a:off x="1093812" y="848097"/>
            <a:ext cx="2725638" cy="220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3000+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063353" y="1124545"/>
            <a:ext cx="786557" cy="98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Raw Columns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359941" y="1240706"/>
            <a:ext cx="4193381" cy="77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Initially scraped, later reduced</a:t>
            </a:r>
            <a:endParaRPr lang="en-US" sz="500" dirty="0"/>
          </a:p>
        </p:txBody>
      </p:sp>
      <p:sp>
        <p:nvSpPr>
          <p:cNvPr id="9" name="Text 7"/>
          <p:cNvSpPr/>
          <p:nvPr/>
        </p:nvSpPr>
        <p:spPr>
          <a:xfrm>
            <a:off x="5324475" y="848097"/>
            <a:ext cx="2725713" cy="220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1,488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294016" y="1124545"/>
            <a:ext cx="786557" cy="98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Records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4590604" y="1240706"/>
            <a:ext cx="4193456" cy="77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Final cleaned dataset</a:t>
            </a:r>
            <a:endParaRPr lang="en-US" sz="500" dirty="0"/>
          </a:p>
        </p:txBody>
      </p:sp>
      <p:sp>
        <p:nvSpPr>
          <p:cNvPr id="12" name="Text 10"/>
          <p:cNvSpPr/>
          <p:nvPr/>
        </p:nvSpPr>
        <p:spPr>
          <a:xfrm>
            <a:off x="1093812" y="1411188"/>
            <a:ext cx="2725638" cy="220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25+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063353" y="1687637"/>
            <a:ext cx="786557" cy="98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Features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359941" y="1803797"/>
            <a:ext cx="4193381" cy="77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Meaningful input variables</a:t>
            </a:r>
            <a:endParaRPr lang="en-US" sz="500" dirty="0"/>
          </a:p>
        </p:txBody>
      </p:sp>
      <p:sp>
        <p:nvSpPr>
          <p:cNvPr id="15" name="Text 13"/>
          <p:cNvSpPr/>
          <p:nvPr/>
        </p:nvSpPr>
        <p:spPr>
          <a:xfrm>
            <a:off x="5324475" y="1411188"/>
            <a:ext cx="2725713" cy="220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15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294016" y="1687637"/>
            <a:ext cx="786557" cy="98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Brands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4590604" y="1803797"/>
            <a:ext cx="4193456" cy="77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Distinct watch brands represented</a:t>
            </a:r>
            <a:endParaRPr lang="en-US" sz="500" dirty="0"/>
          </a:p>
        </p:txBody>
      </p:sp>
      <p:sp>
        <p:nvSpPr>
          <p:cNvPr id="18" name="Text 16"/>
          <p:cNvSpPr/>
          <p:nvPr/>
        </p:nvSpPr>
        <p:spPr>
          <a:xfrm>
            <a:off x="359941" y="1914674"/>
            <a:ext cx="8784059" cy="77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Main feature categories</a:t>
            </a:r>
            <a:endParaRPr lang="en-US" sz="5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9941" y="2025551"/>
            <a:ext cx="4197102" cy="50973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2408337" y="2072655"/>
            <a:ext cx="100236" cy="125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436290" y="2265462"/>
            <a:ext cx="786557" cy="98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Brand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436290" y="2381622"/>
            <a:ext cx="4044404" cy="77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Brand identity and positioning</a:t>
            </a:r>
            <a:endParaRPr lang="en-US" sz="500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86883" y="2025551"/>
            <a:ext cx="4197176" cy="509736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635353" y="2072655"/>
            <a:ext cx="100236" cy="125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750" dirty="0"/>
          </a:p>
        </p:txBody>
      </p:sp>
      <p:sp>
        <p:nvSpPr>
          <p:cNvPr id="25" name="Text 21"/>
          <p:cNvSpPr/>
          <p:nvPr/>
        </p:nvSpPr>
        <p:spPr>
          <a:xfrm>
            <a:off x="4663232" y="2265462"/>
            <a:ext cx="786557" cy="98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Material</a:t>
            </a:r>
            <a:endParaRPr lang="en-US" sz="600" dirty="0"/>
          </a:p>
        </p:txBody>
      </p:sp>
      <p:sp>
        <p:nvSpPr>
          <p:cNvPr id="26" name="Text 22"/>
          <p:cNvSpPr/>
          <p:nvPr/>
        </p:nvSpPr>
        <p:spPr>
          <a:xfrm>
            <a:off x="4663232" y="2381622"/>
            <a:ext cx="4044479" cy="77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Case and strap materials</a:t>
            </a:r>
            <a:endParaRPr lang="en-US" sz="50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9941" y="2565127"/>
            <a:ext cx="4197102" cy="509736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2408337" y="2612231"/>
            <a:ext cx="100236" cy="125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750" dirty="0"/>
          </a:p>
        </p:txBody>
      </p:sp>
      <p:sp>
        <p:nvSpPr>
          <p:cNvPr id="29" name="Text 24"/>
          <p:cNvSpPr/>
          <p:nvPr/>
        </p:nvSpPr>
        <p:spPr>
          <a:xfrm>
            <a:off x="436290" y="2805038"/>
            <a:ext cx="786557" cy="98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Watch Type</a:t>
            </a:r>
            <a:endParaRPr lang="en-US" sz="600" dirty="0"/>
          </a:p>
        </p:txBody>
      </p:sp>
      <p:sp>
        <p:nvSpPr>
          <p:cNvPr id="30" name="Text 25"/>
          <p:cNvSpPr/>
          <p:nvPr/>
        </p:nvSpPr>
        <p:spPr>
          <a:xfrm>
            <a:off x="436290" y="2921198"/>
            <a:ext cx="4044404" cy="77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Analog, digital, or hybrid formats</a:t>
            </a:r>
            <a:endParaRPr lang="en-US" sz="500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86883" y="2565127"/>
            <a:ext cx="4197176" cy="509736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635353" y="2612231"/>
            <a:ext cx="100236" cy="125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</a:t>
            </a:r>
            <a:endParaRPr lang="en-US" sz="750" dirty="0"/>
          </a:p>
        </p:txBody>
      </p:sp>
      <p:sp>
        <p:nvSpPr>
          <p:cNvPr id="33" name="Text 27"/>
          <p:cNvSpPr/>
          <p:nvPr/>
        </p:nvSpPr>
        <p:spPr>
          <a:xfrm>
            <a:off x="4663232" y="2805038"/>
            <a:ext cx="786557" cy="98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Category</a:t>
            </a:r>
            <a:endParaRPr lang="en-US" sz="600" dirty="0"/>
          </a:p>
        </p:txBody>
      </p:sp>
      <p:sp>
        <p:nvSpPr>
          <p:cNvPr id="34" name="Text 28"/>
          <p:cNvSpPr/>
          <p:nvPr/>
        </p:nvSpPr>
        <p:spPr>
          <a:xfrm>
            <a:off x="4663232" y="2921198"/>
            <a:ext cx="4044479" cy="77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Product classification</a:t>
            </a:r>
            <a:endParaRPr lang="en-US" sz="50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9941" y="3104704"/>
            <a:ext cx="4197102" cy="509736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2408337" y="3151808"/>
            <a:ext cx="100236" cy="125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5</a:t>
            </a:r>
            <a:endParaRPr lang="en-US" sz="750" dirty="0"/>
          </a:p>
        </p:txBody>
      </p:sp>
      <p:sp>
        <p:nvSpPr>
          <p:cNvPr id="37" name="Text 30"/>
          <p:cNvSpPr/>
          <p:nvPr/>
        </p:nvSpPr>
        <p:spPr>
          <a:xfrm>
            <a:off x="436290" y="3344614"/>
            <a:ext cx="786557" cy="98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Dial Color</a:t>
            </a:r>
            <a:endParaRPr lang="en-US" sz="600" dirty="0"/>
          </a:p>
        </p:txBody>
      </p:sp>
      <p:sp>
        <p:nvSpPr>
          <p:cNvPr id="38" name="Text 31"/>
          <p:cNvSpPr/>
          <p:nvPr/>
        </p:nvSpPr>
        <p:spPr>
          <a:xfrm>
            <a:off x="436290" y="3460775"/>
            <a:ext cx="4044404" cy="77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Visual style of the watch face</a:t>
            </a:r>
            <a:endParaRPr lang="en-US" sz="500" dirty="0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86883" y="3104704"/>
            <a:ext cx="4197176" cy="509736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6635353" y="3151808"/>
            <a:ext cx="100236" cy="125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6</a:t>
            </a:r>
            <a:endParaRPr lang="en-US" sz="750" dirty="0"/>
          </a:p>
        </p:txBody>
      </p:sp>
      <p:sp>
        <p:nvSpPr>
          <p:cNvPr id="41" name="Text 33"/>
          <p:cNvSpPr/>
          <p:nvPr/>
        </p:nvSpPr>
        <p:spPr>
          <a:xfrm>
            <a:off x="4663232" y="3344614"/>
            <a:ext cx="786557" cy="98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Strap Color</a:t>
            </a:r>
            <a:endParaRPr lang="en-US" sz="600" dirty="0"/>
          </a:p>
        </p:txBody>
      </p:sp>
      <p:sp>
        <p:nvSpPr>
          <p:cNvPr id="42" name="Text 34"/>
          <p:cNvSpPr/>
          <p:nvPr/>
        </p:nvSpPr>
        <p:spPr>
          <a:xfrm>
            <a:off x="4663232" y="3460775"/>
            <a:ext cx="4044479" cy="77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Primary strap appearance</a:t>
            </a:r>
            <a:endParaRPr lang="en-US" sz="500" dirty="0"/>
          </a:p>
        </p:txBody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9941" y="3644280"/>
            <a:ext cx="4197102" cy="509736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2408337" y="3691384"/>
            <a:ext cx="100236" cy="125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7</a:t>
            </a:r>
            <a:endParaRPr lang="en-US" sz="750" dirty="0"/>
          </a:p>
        </p:txBody>
      </p:sp>
      <p:sp>
        <p:nvSpPr>
          <p:cNvPr id="45" name="Text 36"/>
          <p:cNvSpPr/>
          <p:nvPr/>
        </p:nvSpPr>
        <p:spPr>
          <a:xfrm>
            <a:off x="436290" y="3884191"/>
            <a:ext cx="786557" cy="98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Movement Type</a:t>
            </a:r>
            <a:endParaRPr lang="en-US" sz="600" dirty="0"/>
          </a:p>
        </p:txBody>
      </p:sp>
      <p:sp>
        <p:nvSpPr>
          <p:cNvPr id="46" name="Text 37"/>
          <p:cNvSpPr/>
          <p:nvPr/>
        </p:nvSpPr>
        <p:spPr>
          <a:xfrm>
            <a:off x="436290" y="4000351"/>
            <a:ext cx="4044404" cy="77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Quartz, automatic, or other mechanisms</a:t>
            </a:r>
            <a:endParaRPr lang="en-US" sz="500" dirty="0"/>
          </a:p>
        </p:txBody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86883" y="3644280"/>
            <a:ext cx="4197176" cy="509736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6635353" y="3691384"/>
            <a:ext cx="100236" cy="125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8</a:t>
            </a:r>
            <a:endParaRPr lang="en-US" sz="750" dirty="0"/>
          </a:p>
        </p:txBody>
      </p:sp>
      <p:sp>
        <p:nvSpPr>
          <p:cNvPr id="49" name="Text 39"/>
          <p:cNvSpPr/>
          <p:nvPr/>
        </p:nvSpPr>
        <p:spPr>
          <a:xfrm>
            <a:off x="4663232" y="3884191"/>
            <a:ext cx="786557" cy="98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Case Diameter</a:t>
            </a:r>
            <a:endParaRPr lang="en-US" sz="600" dirty="0"/>
          </a:p>
        </p:txBody>
      </p:sp>
      <p:sp>
        <p:nvSpPr>
          <p:cNvPr id="50" name="Text 40"/>
          <p:cNvSpPr/>
          <p:nvPr/>
        </p:nvSpPr>
        <p:spPr>
          <a:xfrm>
            <a:off x="4663232" y="4000351"/>
            <a:ext cx="4044479" cy="77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Size dimension in millimeters</a:t>
            </a:r>
            <a:endParaRPr lang="en-US" sz="500" dirty="0"/>
          </a:p>
        </p:txBody>
      </p:sp>
      <p:pic>
        <p:nvPicPr>
          <p:cNvPr id="51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9941" y="4183856"/>
            <a:ext cx="4197102" cy="509736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2408337" y="4230960"/>
            <a:ext cx="100236" cy="125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9</a:t>
            </a:r>
            <a:endParaRPr lang="en-US" sz="750" dirty="0"/>
          </a:p>
        </p:txBody>
      </p:sp>
      <p:sp>
        <p:nvSpPr>
          <p:cNvPr id="53" name="Text 42"/>
          <p:cNvSpPr/>
          <p:nvPr/>
        </p:nvSpPr>
        <p:spPr>
          <a:xfrm>
            <a:off x="436290" y="4423767"/>
            <a:ext cx="838572" cy="98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Water Resistance</a:t>
            </a:r>
            <a:endParaRPr lang="en-US" sz="600" dirty="0"/>
          </a:p>
        </p:txBody>
      </p:sp>
      <p:sp>
        <p:nvSpPr>
          <p:cNvPr id="54" name="Text 43"/>
          <p:cNvSpPr/>
          <p:nvPr/>
        </p:nvSpPr>
        <p:spPr>
          <a:xfrm>
            <a:off x="436290" y="4539928"/>
            <a:ext cx="4044404" cy="77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Durability and usage rating</a:t>
            </a:r>
            <a:endParaRPr lang="en-US" sz="500" dirty="0"/>
          </a:p>
        </p:txBody>
      </p:sp>
      <p:pic>
        <p:nvPicPr>
          <p:cNvPr id="5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86883" y="4183856"/>
            <a:ext cx="4197176" cy="509736"/>
          </a:xfrm>
          <a:prstGeom prst="rect">
            <a:avLst/>
          </a:prstGeom>
        </p:spPr>
      </p:pic>
      <p:sp>
        <p:nvSpPr>
          <p:cNvPr id="56" name="Text 44"/>
          <p:cNvSpPr/>
          <p:nvPr/>
        </p:nvSpPr>
        <p:spPr>
          <a:xfrm>
            <a:off x="6635353" y="4230960"/>
            <a:ext cx="100236" cy="125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10</a:t>
            </a:r>
            <a:endParaRPr lang="en-US" sz="750" dirty="0"/>
          </a:p>
        </p:txBody>
      </p:sp>
      <p:sp>
        <p:nvSpPr>
          <p:cNvPr id="57" name="Text 45"/>
          <p:cNvSpPr/>
          <p:nvPr/>
        </p:nvSpPr>
        <p:spPr>
          <a:xfrm>
            <a:off x="4663232" y="4423767"/>
            <a:ext cx="786557" cy="98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Is Automatic</a:t>
            </a:r>
            <a:endParaRPr lang="en-US" sz="600" dirty="0"/>
          </a:p>
        </p:txBody>
      </p:sp>
      <p:sp>
        <p:nvSpPr>
          <p:cNvPr id="58" name="Text 46"/>
          <p:cNvSpPr/>
          <p:nvPr/>
        </p:nvSpPr>
        <p:spPr>
          <a:xfrm>
            <a:off x="4663232" y="4539928"/>
            <a:ext cx="4044479" cy="77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Binary indicator for automatic movement</a:t>
            </a:r>
            <a:endParaRPr lang="en-US" sz="500" dirty="0"/>
          </a:p>
        </p:txBody>
      </p:sp>
      <p:sp>
        <p:nvSpPr>
          <p:cNvPr id="59" name="Text 47"/>
          <p:cNvSpPr/>
          <p:nvPr/>
        </p:nvSpPr>
        <p:spPr>
          <a:xfrm>
            <a:off x="359941" y="4727153"/>
            <a:ext cx="8784059" cy="77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dataset combines brand, design, and technical specifications to create a strong feature set for pricing analysis and predictive modeling.</a:t>
            </a:r>
            <a:endParaRPr lang="en-US" sz="500" dirty="0"/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AADC4DC9-FA72-8A0D-04ED-18C11D047520}"/>
              </a:ext>
            </a:extLst>
          </p:cNvPr>
          <p:cNvSpPr/>
          <p:nvPr/>
        </p:nvSpPr>
        <p:spPr>
          <a:xfrm>
            <a:off x="8009334" y="4813663"/>
            <a:ext cx="1068288" cy="298994"/>
          </a:xfrm>
          <a:prstGeom prst="roundRect">
            <a:avLst/>
          </a:prstGeom>
          <a:solidFill>
            <a:srgbClr val="112836"/>
          </a:solidFill>
          <a:ln>
            <a:solidFill>
              <a:srgbClr val="1128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5392" y="407119"/>
            <a:ext cx="1098426" cy="198537"/>
          </a:xfrm>
          <a:prstGeom prst="roundRect">
            <a:avLst>
              <a:gd name="adj" fmla="val 6676"/>
            </a:avLst>
          </a:prstGeom>
          <a:noFill/>
          <a:ln w="4763">
            <a:solidFill>
              <a:srgbClr val="0A98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6383" y="444996"/>
            <a:ext cx="1413644" cy="122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650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04 · DATA PREPARATION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5392" y="638249"/>
            <a:ext cx="7049765" cy="324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 Cleaning &amp; Exploratory Data Analysis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15392" y="1166887"/>
            <a:ext cx="1756693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Cleaning Pipeline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766" y="1426406"/>
            <a:ext cx="165646" cy="16564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74291" y="1420937"/>
            <a:ext cx="3227710" cy="153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Removed 3000+ irrelevant scraped columns</a:t>
            </a:r>
            <a:endParaRPr lang="en-US" sz="8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766" y="1926245"/>
            <a:ext cx="165646" cy="16564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74291" y="1920776"/>
            <a:ext cx="3227710" cy="153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Converted price strings to numeric INR values</a:t>
            </a:r>
            <a:endParaRPr lang="en-US" sz="8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766" y="2426084"/>
            <a:ext cx="165646" cy="16564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74291" y="2420615"/>
            <a:ext cx="3227710" cy="153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Handled missing values &amp; standardized text fields</a:t>
            </a:r>
            <a:endParaRPr lang="en-US" sz="8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766" y="2925924"/>
            <a:ext cx="165646" cy="16564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74291" y="2920454"/>
            <a:ext cx="3227710" cy="153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Removed leakage-prone columns</a:t>
            </a:r>
            <a:endParaRPr lang="en-US" sz="850" dirty="0"/>
          </a:p>
        </p:txBody>
      </p:sp>
      <p:sp>
        <p:nvSpPr>
          <p:cNvPr id="14" name="Text 8"/>
          <p:cNvSpPr/>
          <p:nvPr/>
        </p:nvSpPr>
        <p:spPr>
          <a:xfrm>
            <a:off x="515392" y="3348930"/>
            <a:ext cx="3586609" cy="307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These steps produced a cleaner, model-ready feature set with consistent formatting and reduced noise.</a:t>
            </a:r>
            <a:endParaRPr lang="en-US" sz="850" dirty="0"/>
          </a:p>
        </p:txBody>
      </p:sp>
      <p:sp>
        <p:nvSpPr>
          <p:cNvPr id="15" name="Text 9"/>
          <p:cNvSpPr/>
          <p:nvPr/>
        </p:nvSpPr>
        <p:spPr>
          <a:xfrm>
            <a:off x="4376142" y="1166887"/>
            <a:ext cx="1791742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Price Distribution</a:t>
            </a:r>
            <a:endParaRPr lang="en-US" sz="10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6142" y="1420937"/>
            <a:ext cx="3192810" cy="284328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376142" y="4355902"/>
            <a:ext cx="4257154" cy="307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distribution is concentrated in the mid-range, with fewer watches at the premium end, indicating a right-skewed pricing pattern.</a:t>
            </a:r>
            <a:endParaRPr lang="en-US" sz="850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D15BF8A-E52E-DE58-113F-FBFF486A1EBC}"/>
              </a:ext>
            </a:extLst>
          </p:cNvPr>
          <p:cNvSpPr/>
          <p:nvPr/>
        </p:nvSpPr>
        <p:spPr>
          <a:xfrm>
            <a:off x="8009334" y="4813663"/>
            <a:ext cx="1068288" cy="298994"/>
          </a:xfrm>
          <a:prstGeom prst="roundRect">
            <a:avLst/>
          </a:prstGeom>
          <a:solidFill>
            <a:srgbClr val="112836"/>
          </a:solidFill>
          <a:ln>
            <a:solidFill>
              <a:srgbClr val="1128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615330"/>
            <a:ext cx="1346820" cy="219149"/>
          </a:xfrm>
          <a:prstGeom prst="roundRect">
            <a:avLst>
              <a:gd name="adj" fmla="val 6554"/>
            </a:avLst>
          </a:prstGeom>
          <a:noFill/>
          <a:ln w="4763">
            <a:solidFill>
              <a:srgbClr val="0A98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0149" y="655960"/>
            <a:ext cx="1650876" cy="137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05 · FEATURE ENGINEERING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23577" y="872728"/>
            <a:ext cx="3830315" cy="35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23577" y="1368400"/>
            <a:ext cx="8554045" cy="172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Feature engineering transformed raw watch data into structured inputs that improved model performance and made patterns easier for the model to learn.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9290" y="1648346"/>
            <a:ext cx="4014862" cy="8458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00385" y="1782291"/>
            <a:ext cx="1408063" cy="17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Binary Features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00385" y="2015728"/>
            <a:ext cx="3689821" cy="344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Is Automatic</a:t>
            </a: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and </a:t>
            </a:r>
            <a:r>
              <a:rPr lang="en-US" sz="9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Is Luxury Brand</a:t>
            </a: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capture key yes/no signals that are easy for the model to interpret.</a:t>
            </a:r>
            <a:endParaRPr lang="en-US" sz="9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05561" y="1648346"/>
            <a:ext cx="4014862" cy="84586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96656" y="1782291"/>
            <a:ext cx="1811462" cy="17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Categorical Encoding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796656" y="2015728"/>
            <a:ext cx="3689821" cy="344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Brand</a:t>
            </a: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, </a:t>
            </a:r>
            <a:r>
              <a:rPr lang="en-US" sz="9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Material</a:t>
            </a: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, and </a:t>
            </a:r>
            <a:r>
              <a:rPr lang="en-US" sz="9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Watch Type</a:t>
            </a: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were encoded to convert text categories into usable numeric features.</a:t>
            </a:r>
            <a:endParaRPr lang="en-US" sz="9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9290" y="2589907"/>
            <a:ext cx="4014862" cy="84586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00385" y="2723852"/>
            <a:ext cx="1508075" cy="17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Numerical Scaling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700385" y="2957289"/>
            <a:ext cx="3689821" cy="344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Case Diameter</a:t>
            </a: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and </a:t>
            </a:r>
            <a:r>
              <a:rPr lang="en-US" sz="9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Water Resistance</a:t>
            </a: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were scaled to keep numeric features on comparable ranges.</a:t>
            </a:r>
            <a:endParaRPr lang="en-US" sz="9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05561" y="2589907"/>
            <a:ext cx="4014862" cy="84586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796656" y="2723852"/>
            <a:ext cx="1478979" cy="17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Feature Selection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4796656" y="2957289"/>
            <a:ext cx="3689821" cy="344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Redundant and leakage-prone columns were removed to keep only the most informative variables for training.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523577" y="3639145"/>
            <a:ext cx="2033587" cy="17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Encoding Strategy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523577" y="3910831"/>
            <a:ext cx="3902422" cy="583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One-hot encoding for low-cardinality categories</a:t>
            </a:r>
            <a:endParaRPr lang="en-US" sz="90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Target encoding for higher-cardinality features</a:t>
            </a:r>
            <a:endParaRPr lang="en-US" sz="90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Ordinal handling for ordered numeric-like attributes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4722763" y="3639145"/>
            <a:ext cx="1865263" cy="17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Impact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4722763" y="3910831"/>
            <a:ext cx="3902422" cy="516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final feature set was cleaner, more consistent, and more predictive — helping the model learn stronger relationships and achieve better performance.</a:t>
            </a:r>
            <a:endParaRPr lang="en-US" sz="90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4A912F1-D18A-A052-4A42-A68DCDB0F6C2}"/>
              </a:ext>
            </a:extLst>
          </p:cNvPr>
          <p:cNvSpPr/>
          <p:nvPr/>
        </p:nvSpPr>
        <p:spPr>
          <a:xfrm>
            <a:off x="8009334" y="4813663"/>
            <a:ext cx="1068288" cy="298994"/>
          </a:xfrm>
          <a:prstGeom prst="roundRect">
            <a:avLst/>
          </a:prstGeom>
          <a:solidFill>
            <a:srgbClr val="112836"/>
          </a:solidFill>
          <a:ln>
            <a:solidFill>
              <a:srgbClr val="1128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4538" y="389855"/>
            <a:ext cx="986433" cy="151879"/>
          </a:xfrm>
          <a:prstGeom prst="roundRect">
            <a:avLst>
              <a:gd name="adj" fmla="val 6963"/>
            </a:avLst>
          </a:prstGeom>
          <a:noFill/>
          <a:ln w="4763">
            <a:solidFill>
              <a:srgbClr val="0A98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2135" y="421035"/>
            <a:ext cx="1328440" cy="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550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06 · MODEL DEVELOPMENT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474538" y="562496"/>
            <a:ext cx="5188446" cy="25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Machine Learning Model Development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74538" y="899517"/>
            <a:ext cx="8652123" cy="111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Six regression algorithms were trained and compared using </a:t>
            </a:r>
            <a:r>
              <a:rPr lang="en-US" sz="6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5-Fold Cross Validation</a:t>
            </a:r>
            <a:r>
              <a:rPr lang="en-US" sz="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to identify the best-performing model.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474538" y="1069851"/>
            <a:ext cx="2009775" cy="579909"/>
          </a:xfrm>
          <a:prstGeom prst="roundRect">
            <a:avLst>
              <a:gd name="adj" fmla="val 2280"/>
            </a:avLst>
          </a:prstGeom>
          <a:solidFill>
            <a:srgbClr val="112836"/>
          </a:solidFill>
          <a:ln w="9525">
            <a:solidFill>
              <a:srgbClr val="4960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2170" y="1167482"/>
            <a:ext cx="1100286" cy="129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Linear Regression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2170" y="1328142"/>
            <a:ext cx="1814513" cy="223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Baseline model that fits a straight-line relationship between inputs and the target.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2536180" y="1069851"/>
            <a:ext cx="2009849" cy="579909"/>
          </a:xfrm>
          <a:prstGeom prst="roundRect">
            <a:avLst>
              <a:gd name="adj" fmla="val 2280"/>
            </a:avLst>
          </a:prstGeom>
          <a:solidFill>
            <a:srgbClr val="112836"/>
          </a:solidFill>
          <a:ln w="9525">
            <a:solidFill>
              <a:srgbClr val="4960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33811" y="1167482"/>
            <a:ext cx="1061740" cy="129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Ridge Regression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633811" y="1328142"/>
            <a:ext cx="1814587" cy="223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Regularized linear model that reduces the impact of correlated features.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4597896" y="1069851"/>
            <a:ext cx="2009849" cy="579909"/>
          </a:xfrm>
          <a:prstGeom prst="roundRect">
            <a:avLst>
              <a:gd name="adj" fmla="val 2280"/>
            </a:avLst>
          </a:prstGeom>
          <a:solidFill>
            <a:srgbClr val="112836"/>
          </a:solidFill>
          <a:ln w="9525">
            <a:solidFill>
              <a:srgbClr val="4960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95527" y="1167482"/>
            <a:ext cx="1036811" cy="129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Random Forest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95527" y="1328142"/>
            <a:ext cx="1814587" cy="223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Ensemble of trees that captures non-linear patterns and interactions.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6659612" y="1069851"/>
            <a:ext cx="2009849" cy="579909"/>
          </a:xfrm>
          <a:prstGeom prst="roundRect">
            <a:avLst>
              <a:gd name="adj" fmla="val 2280"/>
            </a:avLst>
          </a:prstGeom>
          <a:solidFill>
            <a:srgbClr val="112836"/>
          </a:solidFill>
          <a:ln w="9525">
            <a:solidFill>
              <a:srgbClr val="4960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57243" y="1167482"/>
            <a:ext cx="1036811" cy="129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XGBoost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757243" y="1328142"/>
            <a:ext cx="1814587" cy="223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Gradient boosting method that sequentially improves accuracy.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474538" y="1701626"/>
            <a:ext cx="4071491" cy="467916"/>
          </a:xfrm>
          <a:prstGeom prst="roundRect">
            <a:avLst>
              <a:gd name="adj" fmla="val 2825"/>
            </a:avLst>
          </a:prstGeom>
          <a:solidFill>
            <a:srgbClr val="112836"/>
          </a:solidFill>
          <a:ln w="9525">
            <a:solidFill>
              <a:srgbClr val="4960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2170" y="1799258"/>
            <a:ext cx="1036811" cy="129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LightGBM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72170" y="1959918"/>
            <a:ext cx="3876229" cy="111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Fast boosting framework designed for efficient training on larger datasets.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4597896" y="1701626"/>
            <a:ext cx="4071565" cy="467916"/>
          </a:xfrm>
          <a:prstGeom prst="roundRect">
            <a:avLst>
              <a:gd name="adj" fmla="val 2825"/>
            </a:avLst>
          </a:prstGeom>
          <a:solidFill>
            <a:srgbClr val="112836"/>
          </a:solidFill>
          <a:ln w="9525">
            <a:solidFill>
              <a:srgbClr val="4960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95527" y="1799258"/>
            <a:ext cx="1036811" cy="129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CatBoost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95527" y="1959918"/>
            <a:ext cx="3876303" cy="111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Boosting model that handles categorical features with minimal preprocessing.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474538" y="2247379"/>
            <a:ext cx="2163142" cy="155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5-Fold Cross Validation</a:t>
            </a:r>
            <a:endParaRPr lang="en-US" sz="95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538" y="2480742"/>
            <a:ext cx="4772695" cy="207459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474538" y="4613672"/>
            <a:ext cx="8652123" cy="139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This process provides a more reliable estimate of real-world performance by testing each model across multiple data splits. </a:t>
            </a:r>
            <a:r>
              <a:rPr lang="en-US" sz="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Final performance = Average of 5 validation scores</a:t>
            </a:r>
            <a:r>
              <a:rPr lang="en-US" sz="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.</a:t>
            </a:r>
            <a:endParaRPr lang="en-US" sz="850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F769C5E-A1AF-4A21-B049-17B3D76719CF}"/>
              </a:ext>
            </a:extLst>
          </p:cNvPr>
          <p:cNvSpPr/>
          <p:nvPr/>
        </p:nvSpPr>
        <p:spPr>
          <a:xfrm>
            <a:off x="8009334" y="4813663"/>
            <a:ext cx="1068288" cy="298994"/>
          </a:xfrm>
          <a:prstGeom prst="roundRect">
            <a:avLst/>
          </a:prstGeom>
          <a:solidFill>
            <a:srgbClr val="112836"/>
          </a:solidFill>
          <a:ln>
            <a:solidFill>
              <a:srgbClr val="1128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2724" y="423639"/>
            <a:ext cx="668834" cy="155004"/>
          </a:xfrm>
          <a:prstGeom prst="roundRect">
            <a:avLst>
              <a:gd name="adj" fmla="val 6941"/>
            </a:avLst>
          </a:prstGeom>
          <a:noFill/>
          <a:ln w="4763">
            <a:solidFill>
              <a:srgbClr val="0A98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1213" y="455265"/>
            <a:ext cx="1009055" cy="91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550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06 · EVALUATION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482724" y="600075"/>
            <a:ext cx="4083248" cy="263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Model Evaluation &amp; Selection</a:t>
            </a:r>
            <a:endParaRPr lang="en-US" sz="16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724" y="1004664"/>
            <a:ext cx="3569345" cy="283249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82724" y="3897585"/>
            <a:ext cx="5491386" cy="455786"/>
          </a:xfrm>
          <a:prstGeom prst="roundRect">
            <a:avLst>
              <a:gd name="adj" fmla="val 2950"/>
            </a:avLst>
          </a:prstGeom>
          <a:solidFill>
            <a:srgbClr val="183A13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319" y="3985171"/>
            <a:ext cx="140047" cy="11199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01960" y="3973637"/>
            <a:ext cx="5082555" cy="286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Selected as Final Model:</a:t>
            </a:r>
            <a:r>
              <a:rPr lang="en-US" sz="8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Highest R² score (</a:t>
            </a:r>
            <a:r>
              <a:rPr lang="en-US" sz="850" b="1" dirty="0">
                <a:solidFill>
                  <a:srgbClr val="0F9D58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71%</a:t>
            </a:r>
            <a:r>
              <a:rPr lang="en-US" sz="8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) with superior handling of categorical features and consistent cross-validation performance.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6197501" y="997893"/>
            <a:ext cx="1511871" cy="131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Why CatBoost?</a:t>
            </a:r>
            <a:endParaRPr lang="en-US" sz="8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87976" y="1190104"/>
            <a:ext cx="2477988" cy="49835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325195" y="1289224"/>
            <a:ext cx="1054671" cy="131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Best Fit</a:t>
            </a:r>
            <a:endParaRPr lang="en-US" sz="800" dirty="0"/>
          </a:p>
        </p:txBody>
      </p:sp>
      <p:sp>
        <p:nvSpPr>
          <p:cNvPr id="12" name="Text 7"/>
          <p:cNvSpPr/>
          <p:nvPr/>
        </p:nvSpPr>
        <p:spPr>
          <a:xfrm>
            <a:off x="6325195" y="1474663"/>
            <a:ext cx="2241649" cy="114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Highest variance explained across all six models.</a:t>
            </a:r>
            <a:endParaRPr lang="en-US" sz="7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87976" y="1742108"/>
            <a:ext cx="2477988" cy="61302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325195" y="1841227"/>
            <a:ext cx="1335063" cy="131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Categorical Strength</a:t>
            </a:r>
            <a:endParaRPr lang="en-US" sz="800" dirty="0"/>
          </a:p>
        </p:txBody>
      </p:sp>
      <p:sp>
        <p:nvSpPr>
          <p:cNvPr id="15" name="Text 9"/>
          <p:cNvSpPr/>
          <p:nvPr/>
        </p:nvSpPr>
        <p:spPr>
          <a:xfrm>
            <a:off x="6325195" y="2026667"/>
            <a:ext cx="2241649" cy="229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Native handling of categorical features with minimal preprocessing.</a:t>
            </a:r>
            <a:endParaRPr lang="en-US" sz="7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87976" y="2408783"/>
            <a:ext cx="2477988" cy="61302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325195" y="2507903"/>
            <a:ext cx="1352699" cy="131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Consistent Validation</a:t>
            </a:r>
            <a:endParaRPr lang="en-US" sz="800" dirty="0"/>
          </a:p>
        </p:txBody>
      </p:sp>
      <p:sp>
        <p:nvSpPr>
          <p:cNvPr id="18" name="Text 11"/>
          <p:cNvSpPr/>
          <p:nvPr/>
        </p:nvSpPr>
        <p:spPr>
          <a:xfrm>
            <a:off x="6325195" y="2693343"/>
            <a:ext cx="2241649" cy="229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Strong and stable performance across 5-Fold Cross Validation.</a:t>
            </a:r>
            <a:endParaRPr lang="en-US" sz="700" dirty="0"/>
          </a:p>
        </p:txBody>
      </p:sp>
      <p:sp>
        <p:nvSpPr>
          <p:cNvPr id="19" name="Text 12"/>
          <p:cNvSpPr/>
          <p:nvPr/>
        </p:nvSpPr>
        <p:spPr>
          <a:xfrm>
            <a:off x="6197501" y="3082230"/>
            <a:ext cx="2320230" cy="158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Model Comparison Table</a:t>
            </a:r>
            <a:endParaRPr lang="en-US" sz="950" dirty="0"/>
          </a:p>
        </p:txBody>
      </p:sp>
      <p:sp>
        <p:nvSpPr>
          <p:cNvPr id="20" name="Shape 13"/>
          <p:cNvSpPr/>
          <p:nvPr/>
        </p:nvSpPr>
        <p:spPr>
          <a:xfrm>
            <a:off x="6197501" y="3300859"/>
            <a:ext cx="2468463" cy="1358578"/>
          </a:xfrm>
          <a:prstGeom prst="roundRect">
            <a:avLst>
              <a:gd name="adj" fmla="val 990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6291932" y="3342605"/>
            <a:ext cx="1950021" cy="114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7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Model Name</a:t>
            </a:r>
            <a:endParaRPr lang="en-US" sz="700" dirty="0"/>
          </a:p>
        </p:txBody>
      </p:sp>
      <p:sp>
        <p:nvSpPr>
          <p:cNvPr id="22" name="Text 15"/>
          <p:cNvSpPr/>
          <p:nvPr/>
        </p:nvSpPr>
        <p:spPr>
          <a:xfrm>
            <a:off x="7963942" y="3342605"/>
            <a:ext cx="1064865" cy="114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7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R² Score</a:t>
            </a:r>
            <a:endParaRPr lang="en-US" sz="700" dirty="0"/>
          </a:p>
        </p:txBody>
      </p:sp>
      <p:sp>
        <p:nvSpPr>
          <p:cNvPr id="23" name="Text 16"/>
          <p:cNvSpPr/>
          <p:nvPr/>
        </p:nvSpPr>
        <p:spPr>
          <a:xfrm>
            <a:off x="6291932" y="3536007"/>
            <a:ext cx="1950021" cy="114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Linear Regression</a:t>
            </a:r>
            <a:endParaRPr lang="en-US" sz="700" dirty="0"/>
          </a:p>
        </p:txBody>
      </p:sp>
      <p:sp>
        <p:nvSpPr>
          <p:cNvPr id="24" name="Text 17"/>
          <p:cNvSpPr/>
          <p:nvPr/>
        </p:nvSpPr>
        <p:spPr>
          <a:xfrm>
            <a:off x="7963942" y="3536007"/>
            <a:ext cx="1064865" cy="114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45%</a:t>
            </a:r>
            <a:endParaRPr lang="en-US" sz="700" dirty="0"/>
          </a:p>
        </p:txBody>
      </p:sp>
      <p:sp>
        <p:nvSpPr>
          <p:cNvPr id="25" name="Text 18"/>
          <p:cNvSpPr/>
          <p:nvPr/>
        </p:nvSpPr>
        <p:spPr>
          <a:xfrm>
            <a:off x="6291932" y="3729410"/>
            <a:ext cx="1950021" cy="114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Ridge</a:t>
            </a:r>
            <a:endParaRPr lang="en-US" sz="700" dirty="0"/>
          </a:p>
        </p:txBody>
      </p:sp>
      <p:sp>
        <p:nvSpPr>
          <p:cNvPr id="26" name="Text 19"/>
          <p:cNvSpPr/>
          <p:nvPr/>
        </p:nvSpPr>
        <p:spPr>
          <a:xfrm>
            <a:off x="7963942" y="3729410"/>
            <a:ext cx="1064865" cy="114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49%</a:t>
            </a:r>
            <a:endParaRPr lang="en-US" sz="700" dirty="0"/>
          </a:p>
        </p:txBody>
      </p:sp>
      <p:sp>
        <p:nvSpPr>
          <p:cNvPr id="27" name="Text 20"/>
          <p:cNvSpPr/>
          <p:nvPr/>
        </p:nvSpPr>
        <p:spPr>
          <a:xfrm>
            <a:off x="6291932" y="3922812"/>
            <a:ext cx="1950021" cy="114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Random Forest</a:t>
            </a:r>
            <a:endParaRPr lang="en-US" sz="700" dirty="0"/>
          </a:p>
        </p:txBody>
      </p:sp>
      <p:sp>
        <p:nvSpPr>
          <p:cNvPr id="28" name="Text 21"/>
          <p:cNvSpPr/>
          <p:nvPr/>
        </p:nvSpPr>
        <p:spPr>
          <a:xfrm>
            <a:off x="7963942" y="3922812"/>
            <a:ext cx="1064865" cy="114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65%</a:t>
            </a:r>
            <a:endParaRPr lang="en-US" sz="700" dirty="0"/>
          </a:p>
        </p:txBody>
      </p:sp>
      <p:sp>
        <p:nvSpPr>
          <p:cNvPr id="29" name="Text 22"/>
          <p:cNvSpPr/>
          <p:nvPr/>
        </p:nvSpPr>
        <p:spPr>
          <a:xfrm>
            <a:off x="6291932" y="4116214"/>
            <a:ext cx="1950021" cy="114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XGBoost</a:t>
            </a:r>
            <a:endParaRPr lang="en-US" sz="700" dirty="0"/>
          </a:p>
        </p:txBody>
      </p:sp>
      <p:sp>
        <p:nvSpPr>
          <p:cNvPr id="30" name="Text 23"/>
          <p:cNvSpPr/>
          <p:nvPr/>
        </p:nvSpPr>
        <p:spPr>
          <a:xfrm>
            <a:off x="7963942" y="4116214"/>
            <a:ext cx="1064865" cy="114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62%</a:t>
            </a:r>
            <a:endParaRPr lang="en-US" sz="700" dirty="0"/>
          </a:p>
        </p:txBody>
      </p:sp>
      <p:sp>
        <p:nvSpPr>
          <p:cNvPr id="31" name="Text 24"/>
          <p:cNvSpPr/>
          <p:nvPr/>
        </p:nvSpPr>
        <p:spPr>
          <a:xfrm>
            <a:off x="6291932" y="4309616"/>
            <a:ext cx="1950021" cy="114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LightGBM</a:t>
            </a:r>
            <a:endParaRPr lang="en-US" sz="700" dirty="0"/>
          </a:p>
        </p:txBody>
      </p:sp>
      <p:sp>
        <p:nvSpPr>
          <p:cNvPr id="32" name="Text 25"/>
          <p:cNvSpPr/>
          <p:nvPr/>
        </p:nvSpPr>
        <p:spPr>
          <a:xfrm>
            <a:off x="7963942" y="4309616"/>
            <a:ext cx="1064865" cy="114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60%</a:t>
            </a:r>
            <a:endParaRPr lang="en-US" sz="700" dirty="0"/>
          </a:p>
        </p:txBody>
      </p:sp>
      <p:sp>
        <p:nvSpPr>
          <p:cNvPr id="33" name="Text 26"/>
          <p:cNvSpPr/>
          <p:nvPr/>
        </p:nvSpPr>
        <p:spPr>
          <a:xfrm>
            <a:off x="6291932" y="4503018"/>
            <a:ext cx="1950021" cy="114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7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CatBoost</a:t>
            </a:r>
            <a:r>
              <a:rPr lang="en-US" sz="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7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(Winner)</a:t>
            </a:r>
            <a:endParaRPr lang="en-US" sz="700" dirty="0"/>
          </a:p>
        </p:txBody>
      </p:sp>
      <p:sp>
        <p:nvSpPr>
          <p:cNvPr id="34" name="Text 27"/>
          <p:cNvSpPr/>
          <p:nvPr/>
        </p:nvSpPr>
        <p:spPr>
          <a:xfrm>
            <a:off x="7963942" y="4503018"/>
            <a:ext cx="1064865" cy="114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7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71%</a:t>
            </a:r>
            <a:endParaRPr lang="en-US" sz="700" dirty="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39B367C-B963-CC0F-0470-1DCE9400E151}"/>
              </a:ext>
            </a:extLst>
          </p:cNvPr>
          <p:cNvSpPr/>
          <p:nvPr/>
        </p:nvSpPr>
        <p:spPr>
          <a:xfrm>
            <a:off x="8009334" y="4813663"/>
            <a:ext cx="1068288" cy="298994"/>
          </a:xfrm>
          <a:prstGeom prst="roundRect">
            <a:avLst/>
          </a:prstGeom>
          <a:solidFill>
            <a:srgbClr val="112836"/>
          </a:solidFill>
          <a:ln>
            <a:solidFill>
              <a:srgbClr val="1128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434057"/>
            <a:ext cx="1020440" cy="236265"/>
          </a:xfrm>
          <a:prstGeom prst="roundRect">
            <a:avLst>
              <a:gd name="adj" fmla="val 6459"/>
            </a:avLst>
          </a:prstGeom>
          <a:noFill/>
          <a:ln w="4763">
            <a:solidFill>
              <a:srgbClr val="0A98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4614" y="476920"/>
            <a:ext cx="1315566" cy="150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07 · OPTIMIZATION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23577" y="713556"/>
            <a:ext cx="7578403" cy="374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Hyperparameter Tuning &amp; Explainable AI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523577" y="1878806"/>
            <a:ext cx="2237408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Optuna — 100 Trials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23577" y="2173858"/>
            <a:ext cx="4182368" cy="188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Automated Bayesian optimization to find the best CatBoost setup.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23577" y="2483644"/>
            <a:ext cx="1808559" cy="737443"/>
          </a:xfrm>
          <a:prstGeom prst="roundRect">
            <a:avLst>
              <a:gd name="adj" fmla="val 2587"/>
            </a:avLst>
          </a:prstGeom>
          <a:solidFill>
            <a:srgbClr val="304755"/>
          </a:solidFill>
          <a:ln/>
        </p:spPr>
      </p:sp>
      <p:sp>
        <p:nvSpPr>
          <p:cNvPr id="8" name="Text 6"/>
          <p:cNvSpPr/>
          <p:nvPr/>
        </p:nvSpPr>
        <p:spPr>
          <a:xfrm>
            <a:off x="650677" y="2610743"/>
            <a:ext cx="1496095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Iterations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50677" y="2905795"/>
            <a:ext cx="1554361" cy="188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540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40186" y="2483644"/>
            <a:ext cx="1808559" cy="737443"/>
          </a:xfrm>
          <a:prstGeom prst="roundRect">
            <a:avLst>
              <a:gd name="adj" fmla="val 2587"/>
            </a:avLst>
          </a:prstGeom>
          <a:solidFill>
            <a:srgbClr val="304755"/>
          </a:solidFill>
          <a:ln/>
        </p:spPr>
      </p:sp>
      <p:sp>
        <p:nvSpPr>
          <p:cNvPr id="11" name="Text 9"/>
          <p:cNvSpPr/>
          <p:nvPr/>
        </p:nvSpPr>
        <p:spPr>
          <a:xfrm>
            <a:off x="2567285" y="2610743"/>
            <a:ext cx="1496095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Depth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567285" y="2905795"/>
            <a:ext cx="1554361" cy="188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23577" y="3329136"/>
            <a:ext cx="3725168" cy="737443"/>
          </a:xfrm>
          <a:prstGeom prst="roundRect">
            <a:avLst>
              <a:gd name="adj" fmla="val 2587"/>
            </a:avLst>
          </a:prstGeom>
          <a:solidFill>
            <a:srgbClr val="304755"/>
          </a:solidFill>
          <a:ln/>
        </p:spPr>
      </p:sp>
      <p:sp>
        <p:nvSpPr>
          <p:cNvPr id="14" name="Text 12"/>
          <p:cNvSpPr/>
          <p:nvPr/>
        </p:nvSpPr>
        <p:spPr>
          <a:xfrm>
            <a:off x="650677" y="3456236"/>
            <a:ext cx="1496095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Learning Rate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50677" y="3751287"/>
            <a:ext cx="3470970" cy="188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0.0465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63666" y="1357685"/>
            <a:ext cx="2181076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SHAP Explainability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63666" y="1652736"/>
            <a:ext cx="4061445" cy="376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SHAP values reveal which features most influence price predictions, enabling model interpretability and trust.</a:t>
            </a:r>
            <a:endParaRPr lang="en-US" sz="10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3666" y="2150715"/>
            <a:ext cx="3452217" cy="2437061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1DE47C5-CD01-EFE4-C9AC-80B5CC08A6D7}"/>
              </a:ext>
            </a:extLst>
          </p:cNvPr>
          <p:cNvSpPr/>
          <p:nvPr/>
        </p:nvSpPr>
        <p:spPr>
          <a:xfrm>
            <a:off x="8009334" y="4813663"/>
            <a:ext cx="1068288" cy="298994"/>
          </a:xfrm>
          <a:prstGeom prst="roundRect">
            <a:avLst/>
          </a:prstGeom>
          <a:solidFill>
            <a:srgbClr val="112836"/>
          </a:solidFill>
          <a:ln>
            <a:solidFill>
              <a:srgbClr val="1128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281" y="420365"/>
            <a:ext cx="740569" cy="164157"/>
          </a:xfrm>
          <a:prstGeom prst="roundRect">
            <a:avLst>
              <a:gd name="adj" fmla="val 6887"/>
            </a:avLst>
          </a:prstGeom>
          <a:noFill/>
          <a:ln w="4763">
            <a:solidFill>
              <a:srgbClr val="0A98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8523" y="453330"/>
            <a:ext cx="1075283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550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08 · DEPLOYMENT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507281" y="608186"/>
            <a:ext cx="3791248" cy="277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Deployment Architecture</a:t>
            </a:r>
            <a:endParaRPr lang="en-US" sz="1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1732" y="974154"/>
            <a:ext cx="5240536" cy="225980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304399" y="2809792"/>
            <a:ext cx="1118871" cy="139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Price Prediction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2304399" y="2286684"/>
            <a:ext cx="1118871" cy="139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CatBoost Model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2304399" y="1768859"/>
            <a:ext cx="1297204" cy="139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Feature Processing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2304399" y="1245751"/>
            <a:ext cx="1118871" cy="139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User Input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07281" y="3300636"/>
            <a:ext cx="8586639" cy="122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From user input to price output in seconds — the Chronos AI pipeline delivers production-ready predictions through a clean, intuitive interface.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507281" y="3512344"/>
            <a:ext cx="2835101" cy="221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Architecture Overview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07281" y="3964186"/>
            <a:ext cx="1987823" cy="758875"/>
          </a:xfrm>
          <a:prstGeom prst="roundRect">
            <a:avLst>
              <a:gd name="adj" fmla="val 6025"/>
            </a:avLst>
          </a:prstGeom>
          <a:solidFill>
            <a:srgbClr val="112836"/>
          </a:solidFill>
          <a:ln w="9525">
            <a:solidFill>
              <a:srgbClr val="49606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07281" y="3954661"/>
            <a:ext cx="1987823" cy="38100"/>
          </a:xfrm>
          <a:prstGeom prst="roundRect">
            <a:avLst>
              <a:gd name="adj" fmla="val 37090"/>
            </a:avLst>
          </a:prstGeom>
          <a:solidFill>
            <a:srgbClr val="0A988B"/>
          </a:solidFill>
          <a:ln/>
        </p:spPr>
      </p:sp>
      <p:sp>
        <p:nvSpPr>
          <p:cNvPr id="14" name="Shape 11"/>
          <p:cNvSpPr/>
          <p:nvPr/>
        </p:nvSpPr>
        <p:spPr>
          <a:xfrm>
            <a:off x="1359843" y="3822874"/>
            <a:ext cx="282625" cy="282625"/>
          </a:xfrm>
          <a:prstGeom prst="roundRect">
            <a:avLst>
              <a:gd name="adj" fmla="val 202211"/>
            </a:avLst>
          </a:prstGeom>
          <a:solidFill>
            <a:srgbClr val="0A988B"/>
          </a:solidFill>
          <a:ln/>
        </p:spPr>
      </p:sp>
      <p:sp>
        <p:nvSpPr>
          <p:cNvPr id="15" name="Text 12"/>
          <p:cNvSpPr/>
          <p:nvPr/>
        </p:nvSpPr>
        <p:spPr>
          <a:xfrm>
            <a:off x="611014" y="4199706"/>
            <a:ext cx="1108323" cy="138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User Input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11014" y="4373761"/>
            <a:ext cx="1780356" cy="245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Watch attributes collected via interactive form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2554412" y="3964186"/>
            <a:ext cx="1987897" cy="758875"/>
          </a:xfrm>
          <a:prstGeom prst="roundRect">
            <a:avLst>
              <a:gd name="adj" fmla="val 6025"/>
            </a:avLst>
          </a:prstGeom>
          <a:solidFill>
            <a:srgbClr val="112836"/>
          </a:solidFill>
          <a:ln w="9525">
            <a:solidFill>
              <a:srgbClr val="49606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554412" y="3954661"/>
            <a:ext cx="1987897" cy="38100"/>
          </a:xfrm>
          <a:prstGeom prst="roundRect">
            <a:avLst>
              <a:gd name="adj" fmla="val 37090"/>
            </a:avLst>
          </a:prstGeom>
          <a:solidFill>
            <a:srgbClr val="0A988B"/>
          </a:solidFill>
          <a:ln/>
        </p:spPr>
      </p:sp>
      <p:sp>
        <p:nvSpPr>
          <p:cNvPr id="19" name="Shape 16"/>
          <p:cNvSpPr/>
          <p:nvPr/>
        </p:nvSpPr>
        <p:spPr>
          <a:xfrm>
            <a:off x="3407048" y="3822874"/>
            <a:ext cx="282625" cy="282625"/>
          </a:xfrm>
          <a:prstGeom prst="roundRect">
            <a:avLst>
              <a:gd name="adj" fmla="val 202211"/>
            </a:avLst>
          </a:prstGeom>
          <a:solidFill>
            <a:srgbClr val="0A988B"/>
          </a:solidFill>
          <a:ln/>
        </p:spPr>
      </p:sp>
      <p:sp>
        <p:nvSpPr>
          <p:cNvPr id="20" name="Text 17"/>
          <p:cNvSpPr/>
          <p:nvPr/>
        </p:nvSpPr>
        <p:spPr>
          <a:xfrm>
            <a:off x="2658145" y="4199706"/>
            <a:ext cx="1285801" cy="138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Feature Processing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2658145" y="4373761"/>
            <a:ext cx="1780431" cy="245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Raw inputs transformed into model-ready features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4601617" y="3964186"/>
            <a:ext cx="1987897" cy="758875"/>
          </a:xfrm>
          <a:prstGeom prst="roundRect">
            <a:avLst>
              <a:gd name="adj" fmla="val 6025"/>
            </a:avLst>
          </a:prstGeom>
          <a:solidFill>
            <a:srgbClr val="112836"/>
          </a:solidFill>
          <a:ln w="9525">
            <a:solidFill>
              <a:srgbClr val="49606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601617" y="3954661"/>
            <a:ext cx="1987897" cy="38100"/>
          </a:xfrm>
          <a:prstGeom prst="roundRect">
            <a:avLst>
              <a:gd name="adj" fmla="val 37090"/>
            </a:avLst>
          </a:prstGeom>
          <a:solidFill>
            <a:srgbClr val="0A988B"/>
          </a:solidFill>
          <a:ln/>
        </p:spPr>
      </p:sp>
      <p:sp>
        <p:nvSpPr>
          <p:cNvPr id="24" name="Shape 21"/>
          <p:cNvSpPr/>
          <p:nvPr/>
        </p:nvSpPr>
        <p:spPr>
          <a:xfrm>
            <a:off x="5454253" y="3822874"/>
            <a:ext cx="282625" cy="282625"/>
          </a:xfrm>
          <a:prstGeom prst="roundRect">
            <a:avLst>
              <a:gd name="adj" fmla="val 202211"/>
            </a:avLst>
          </a:prstGeom>
          <a:solidFill>
            <a:srgbClr val="0A988B"/>
          </a:solidFill>
          <a:ln/>
        </p:spPr>
      </p:sp>
      <p:sp>
        <p:nvSpPr>
          <p:cNvPr id="25" name="Text 22"/>
          <p:cNvSpPr/>
          <p:nvPr/>
        </p:nvSpPr>
        <p:spPr>
          <a:xfrm>
            <a:off x="4705350" y="4199706"/>
            <a:ext cx="1108323" cy="138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CatBoost Model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4705350" y="4373761"/>
            <a:ext cx="1780431" cy="122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Trained regression model making predictions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6648822" y="3964186"/>
            <a:ext cx="1987897" cy="758875"/>
          </a:xfrm>
          <a:prstGeom prst="roundRect">
            <a:avLst>
              <a:gd name="adj" fmla="val 6025"/>
            </a:avLst>
          </a:prstGeom>
          <a:solidFill>
            <a:srgbClr val="112836"/>
          </a:solidFill>
          <a:ln w="9525">
            <a:solidFill>
              <a:srgbClr val="49606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648822" y="3954661"/>
            <a:ext cx="1987897" cy="38100"/>
          </a:xfrm>
          <a:prstGeom prst="roundRect">
            <a:avLst>
              <a:gd name="adj" fmla="val 37090"/>
            </a:avLst>
          </a:prstGeom>
          <a:solidFill>
            <a:srgbClr val="0A988B"/>
          </a:solidFill>
          <a:ln/>
        </p:spPr>
      </p:sp>
      <p:sp>
        <p:nvSpPr>
          <p:cNvPr id="29" name="Shape 26"/>
          <p:cNvSpPr/>
          <p:nvPr/>
        </p:nvSpPr>
        <p:spPr>
          <a:xfrm>
            <a:off x="7501458" y="3822874"/>
            <a:ext cx="282625" cy="282625"/>
          </a:xfrm>
          <a:prstGeom prst="roundRect">
            <a:avLst>
              <a:gd name="adj" fmla="val 202211"/>
            </a:avLst>
          </a:prstGeom>
          <a:solidFill>
            <a:srgbClr val="0A988B"/>
          </a:solidFill>
          <a:ln/>
        </p:spPr>
      </p:sp>
      <p:sp>
        <p:nvSpPr>
          <p:cNvPr id="30" name="Text 27"/>
          <p:cNvSpPr/>
          <p:nvPr/>
        </p:nvSpPr>
        <p:spPr>
          <a:xfrm>
            <a:off x="6752555" y="4199706"/>
            <a:ext cx="1108323" cy="138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Price Prediction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6752555" y="4373761"/>
            <a:ext cx="1780431" cy="122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Real-time output with confidence scores</a:t>
            </a:r>
            <a:endParaRPr lang="en-US" sz="700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49DF6EF-F25B-73D0-4D60-EE098244C047}"/>
              </a:ext>
            </a:extLst>
          </p:cNvPr>
          <p:cNvSpPr/>
          <p:nvPr/>
        </p:nvSpPr>
        <p:spPr>
          <a:xfrm>
            <a:off x="8009334" y="4813663"/>
            <a:ext cx="1068288" cy="298994"/>
          </a:xfrm>
          <a:prstGeom prst="roundRect">
            <a:avLst/>
          </a:prstGeom>
          <a:solidFill>
            <a:srgbClr val="112836"/>
          </a:solidFill>
          <a:ln>
            <a:solidFill>
              <a:srgbClr val="1128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494556"/>
            <a:ext cx="1392213" cy="290661"/>
          </a:xfrm>
          <a:prstGeom prst="roundRect">
            <a:avLst>
              <a:gd name="adj" fmla="val 6177"/>
            </a:avLst>
          </a:prstGeom>
          <a:noFill/>
          <a:ln w="4763">
            <a:solidFill>
              <a:srgbClr val="0A98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8083" y="544190"/>
            <a:ext cx="1660401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09 · LIVE APPLICATION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23577" y="845046"/>
            <a:ext cx="668193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Chronos AI — Live Application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1677665"/>
            <a:ext cx="2427387" cy="13648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23577" y="3210744"/>
            <a:ext cx="22173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Home Page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23577" y="3580284"/>
            <a:ext cx="2884587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App overview and navigation</a:t>
            </a:r>
            <a:endParaRPr lang="en-US" sz="11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0653" y="1677665"/>
            <a:ext cx="2512070" cy="141245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20653" y="3258369"/>
            <a:ext cx="22173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Prediction Page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320653" y="3627909"/>
            <a:ext cx="2969270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Enter watch attributes</a:t>
            </a:r>
            <a:endParaRPr lang="en-US" sz="11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2412" y="1677665"/>
            <a:ext cx="2427387" cy="136482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02412" y="3210744"/>
            <a:ext cx="22173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Results Page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6202412" y="3580284"/>
            <a:ext cx="2884587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Price output and explanations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523577" y="4170164"/>
            <a:ext cx="8096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Chronos AI is deployed as a production-ready Streamlit web application, enabling real-time watch price predictions with explainable AI insights.</a:t>
            </a:r>
            <a:endParaRPr lang="en-US" sz="115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A59288D-566A-0C6C-5C50-6117D68451BF}"/>
              </a:ext>
            </a:extLst>
          </p:cNvPr>
          <p:cNvSpPr/>
          <p:nvPr/>
        </p:nvSpPr>
        <p:spPr>
          <a:xfrm>
            <a:off x="8009334" y="4813663"/>
            <a:ext cx="1068288" cy="298994"/>
          </a:xfrm>
          <a:prstGeom prst="roundRect">
            <a:avLst/>
          </a:prstGeom>
          <a:solidFill>
            <a:srgbClr val="112836"/>
          </a:solidFill>
          <a:ln>
            <a:solidFill>
              <a:srgbClr val="1128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9982" y="354732"/>
            <a:ext cx="892671" cy="142801"/>
          </a:xfrm>
          <a:prstGeom prst="roundRect">
            <a:avLst>
              <a:gd name="adj" fmla="val 7023"/>
            </a:avLst>
          </a:prstGeom>
          <a:noFill/>
          <a:ln w="4763">
            <a:solidFill>
              <a:srgbClr val="0A98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4825" y="384497"/>
            <a:ext cx="1240185" cy="83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00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10 · RESULTS &amp; ROADMAP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449982" y="516136"/>
            <a:ext cx="4562921" cy="245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Results, Challenges &amp; Future Scope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24074" y="873696"/>
            <a:ext cx="1760860" cy="275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71%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1312962" y="1226195"/>
            <a:ext cx="983159" cy="122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R² Score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49982" y="1377032"/>
            <a:ext cx="2709118" cy="104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Final CatBoost model performance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3691533" y="873696"/>
            <a:ext cx="1760860" cy="275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₹466</a:t>
            </a:r>
            <a:endParaRPr lang="en-US" sz="2150" dirty="0"/>
          </a:p>
        </p:txBody>
      </p:sp>
      <p:sp>
        <p:nvSpPr>
          <p:cNvPr id="9" name="Text 7"/>
          <p:cNvSpPr/>
          <p:nvPr/>
        </p:nvSpPr>
        <p:spPr>
          <a:xfrm>
            <a:off x="4080421" y="1226195"/>
            <a:ext cx="983159" cy="122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RMSE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217441" y="1377032"/>
            <a:ext cx="2709118" cy="104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Root Mean Squared Error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6458992" y="873696"/>
            <a:ext cx="1760860" cy="275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₹294</a:t>
            </a:r>
            <a:endParaRPr lang="en-US" sz="2150" dirty="0"/>
          </a:p>
        </p:txBody>
      </p:sp>
      <p:sp>
        <p:nvSpPr>
          <p:cNvPr id="12" name="Text 10"/>
          <p:cNvSpPr/>
          <p:nvPr/>
        </p:nvSpPr>
        <p:spPr>
          <a:xfrm>
            <a:off x="6847880" y="1226195"/>
            <a:ext cx="983159" cy="122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MAE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984900" y="1377032"/>
            <a:ext cx="2709118" cy="104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Mean Absolute Error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691533" y="1616273"/>
            <a:ext cx="1760860" cy="275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0.07%</a:t>
            </a:r>
            <a:endParaRPr lang="en-US" sz="2150" dirty="0"/>
          </a:p>
        </p:txBody>
      </p:sp>
      <p:sp>
        <p:nvSpPr>
          <p:cNvPr id="15" name="Text 13"/>
          <p:cNvSpPr/>
          <p:nvPr/>
        </p:nvSpPr>
        <p:spPr>
          <a:xfrm>
            <a:off x="4080421" y="1968773"/>
            <a:ext cx="983159" cy="122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Brand Unknown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217441" y="2119610"/>
            <a:ext cx="2709118" cy="104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Down from 87.5% — critical fix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449982" y="2297088"/>
            <a:ext cx="8244036" cy="6251"/>
          </a:xfrm>
          <a:prstGeom prst="rect">
            <a:avLst/>
          </a:prstGeom>
          <a:solidFill>
            <a:srgbClr val="CAD6DE">
              <a:alpha val="5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49982" y="2394198"/>
            <a:ext cx="2030313" cy="196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49982" y="2660824"/>
            <a:ext cx="2716857" cy="309042"/>
          </a:xfrm>
          <a:prstGeom prst="roundRect">
            <a:avLst>
              <a:gd name="adj" fmla="val 4056"/>
            </a:avLst>
          </a:prstGeom>
          <a:solidFill>
            <a:srgbClr val="112836"/>
          </a:solidFill>
          <a:ln w="9525">
            <a:solidFill>
              <a:srgbClr val="4960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3074" y="2753916"/>
            <a:ext cx="1650057" cy="122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Automated watch valuation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213497" y="2660824"/>
            <a:ext cx="2716932" cy="309042"/>
          </a:xfrm>
          <a:prstGeom prst="roundRect">
            <a:avLst>
              <a:gd name="adj" fmla="val 4056"/>
            </a:avLst>
          </a:prstGeom>
          <a:solidFill>
            <a:srgbClr val="112836"/>
          </a:solidFill>
          <a:ln w="9525">
            <a:solidFill>
              <a:srgbClr val="4960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06589" y="2753916"/>
            <a:ext cx="2341438" cy="122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Reduced manual price estimation effort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977086" y="2660824"/>
            <a:ext cx="2716932" cy="309042"/>
          </a:xfrm>
          <a:prstGeom prst="roundRect">
            <a:avLst>
              <a:gd name="adj" fmla="val 4056"/>
            </a:avLst>
          </a:prstGeom>
          <a:solidFill>
            <a:srgbClr val="112836"/>
          </a:solidFill>
          <a:ln w="9525">
            <a:solidFill>
              <a:srgbClr val="4960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70178" y="2753916"/>
            <a:ext cx="2081287" cy="122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Scalable for e-commerce platforms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49982" y="3016523"/>
            <a:ext cx="4098652" cy="309042"/>
          </a:xfrm>
          <a:prstGeom prst="roundRect">
            <a:avLst>
              <a:gd name="adj" fmla="val 4056"/>
            </a:avLst>
          </a:prstGeom>
          <a:solidFill>
            <a:srgbClr val="112836"/>
          </a:solidFill>
          <a:ln w="9525">
            <a:solidFill>
              <a:srgbClr val="4960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3074" y="3109615"/>
            <a:ext cx="1779389" cy="122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Real-time prediction capability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595292" y="3016523"/>
            <a:ext cx="4098727" cy="309042"/>
          </a:xfrm>
          <a:prstGeom prst="roundRect">
            <a:avLst>
              <a:gd name="adj" fmla="val 4056"/>
            </a:avLst>
          </a:prstGeom>
          <a:solidFill>
            <a:srgbClr val="112836"/>
          </a:solidFill>
          <a:ln w="9525">
            <a:solidFill>
              <a:srgbClr val="4960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8384" y="3109615"/>
            <a:ext cx="1750442" cy="122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Production-ready deployment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49982" y="3398862"/>
            <a:ext cx="8244036" cy="6251"/>
          </a:xfrm>
          <a:prstGeom prst="rect">
            <a:avLst/>
          </a:prstGeom>
          <a:solidFill>
            <a:srgbClr val="CAD6DE">
              <a:alpha val="5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40457" y="3530873"/>
            <a:ext cx="4208041" cy="1905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31" name="Text 29"/>
          <p:cNvSpPr/>
          <p:nvPr/>
        </p:nvSpPr>
        <p:spPr>
          <a:xfrm>
            <a:off x="449982" y="3633490"/>
            <a:ext cx="1149846" cy="127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🏆</a:t>
            </a:r>
            <a:r>
              <a:rPr lang="en-US" sz="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Challenge Solved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49982" y="3807768"/>
            <a:ext cx="4188991" cy="104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Brand Sparsity Problem: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449982" y="3958605"/>
            <a:ext cx="2713658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87.5% → 0.07%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449982" y="4344442"/>
            <a:ext cx="4188991" cy="104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Unknown brands reduced through intelligent feature engineering, driving significant model performance gains.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4838105" y="3530873"/>
            <a:ext cx="3870127" cy="1905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36" name="Text 34"/>
          <p:cNvSpPr/>
          <p:nvPr/>
        </p:nvSpPr>
        <p:spPr>
          <a:xfrm>
            <a:off x="4847630" y="3633490"/>
            <a:ext cx="983159" cy="127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🔭</a:t>
            </a:r>
            <a:r>
              <a:rPr lang="en-US" sz="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Future Scope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847630" y="3807768"/>
            <a:ext cx="3851077" cy="586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04000"/>
              </a:lnSpc>
              <a:buSzPct val="100000"/>
              <a:buChar char="•"/>
            </a:pPr>
            <a:r>
              <a:rPr lang="en-US" sz="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Larger, more diverse datasets</a:t>
            </a:r>
            <a:endParaRPr lang="en-US" sz="650" dirty="0"/>
          </a:p>
          <a:p>
            <a:pPr marL="342900" indent="-342900" algn="l">
              <a:lnSpc>
                <a:spcPct val="104000"/>
              </a:lnSpc>
              <a:buSzPct val="100000"/>
              <a:buChar char="•"/>
            </a:pPr>
            <a:r>
              <a:rPr lang="en-US" sz="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Image-based watch analysis (CNN/ViT)</a:t>
            </a:r>
            <a:endParaRPr lang="en-US" sz="650" dirty="0"/>
          </a:p>
          <a:p>
            <a:pPr marL="342900" indent="-342900" algn="l">
              <a:lnSpc>
                <a:spcPct val="104000"/>
              </a:lnSpc>
              <a:buSzPct val="100000"/>
              <a:buChar char="•"/>
            </a:pPr>
            <a:r>
              <a:rPr lang="en-US" sz="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Text embeddings from product descriptions</a:t>
            </a:r>
            <a:endParaRPr lang="en-US" sz="650" dirty="0"/>
          </a:p>
          <a:p>
            <a:pPr marL="342900" indent="-342900" algn="l">
              <a:lnSpc>
                <a:spcPct val="104000"/>
              </a:lnSpc>
              <a:buSzPct val="100000"/>
              <a:buChar char="•"/>
            </a:pPr>
            <a:r>
              <a:rPr lang="en-US" sz="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Automated retraining pipeline</a:t>
            </a:r>
            <a:endParaRPr lang="en-US" sz="650" dirty="0"/>
          </a:p>
          <a:p>
            <a:pPr marL="342900" indent="-342900" algn="l">
              <a:lnSpc>
                <a:spcPct val="104000"/>
              </a:lnSpc>
              <a:buSzPct val="100000"/>
              <a:buChar char="•"/>
            </a:pPr>
            <a:r>
              <a:rPr lang="en-US" sz="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Cloud deployment (AWS / GCP)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575295" y="4606007"/>
            <a:ext cx="8568705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Successfully built an end-to-end Machine Learning solution — from raw scraped data to production-ready deployment. </a:t>
            </a:r>
            <a:r>
              <a:rPr lang="en-US" sz="8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Chronos AI is live.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49982" y="4553545"/>
            <a:ext cx="9525" cy="235148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FF308875-6D3C-F4B2-45E9-A61D25F04C04}"/>
              </a:ext>
            </a:extLst>
          </p:cNvPr>
          <p:cNvSpPr/>
          <p:nvPr/>
        </p:nvSpPr>
        <p:spPr>
          <a:xfrm>
            <a:off x="8009334" y="4813663"/>
            <a:ext cx="1068288" cy="298994"/>
          </a:xfrm>
          <a:prstGeom prst="roundRect">
            <a:avLst/>
          </a:prstGeom>
          <a:solidFill>
            <a:srgbClr val="112836"/>
          </a:solidFill>
          <a:ln>
            <a:solidFill>
              <a:srgbClr val="1128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5392" y="421853"/>
            <a:ext cx="859557" cy="182687"/>
          </a:xfrm>
          <a:prstGeom prst="roundRect">
            <a:avLst>
              <a:gd name="adj" fmla="val 6772"/>
            </a:avLst>
          </a:prstGeom>
          <a:noFill/>
          <a:ln w="4763">
            <a:solidFill>
              <a:srgbClr val="0A98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1992" y="457498"/>
            <a:ext cx="1183556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600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11 · KEY LEARNINGS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515392" y="632892"/>
            <a:ext cx="4869805" cy="303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Key Learnings &amp; Achievements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15392" y="1042615"/>
            <a:ext cx="8570416" cy="139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This project provided comprehensive experience across the machine learning lifecycle, highlighting mastery in: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15392" y="1261690"/>
            <a:ext cx="1975024" cy="537865"/>
          </a:xfrm>
          <a:prstGeom prst="roundRect">
            <a:avLst>
              <a:gd name="adj" fmla="val 2875"/>
            </a:avLst>
          </a:prstGeom>
          <a:solidFill>
            <a:srgbClr val="112836"/>
          </a:solidFill>
          <a:ln w="14288">
            <a:solidFill>
              <a:srgbClr val="4960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2743" y="1379041"/>
            <a:ext cx="1740322" cy="303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End-to-End Machine Learning Pipeline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61406" y="1261690"/>
            <a:ext cx="1975098" cy="537865"/>
          </a:xfrm>
          <a:prstGeom prst="roundRect">
            <a:avLst>
              <a:gd name="adj" fmla="val 2875"/>
            </a:avLst>
          </a:prstGeom>
          <a:solidFill>
            <a:srgbClr val="112836"/>
          </a:solidFill>
          <a:ln w="14288">
            <a:solidFill>
              <a:srgbClr val="4960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78757" y="1379041"/>
            <a:ext cx="1498922" cy="151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 Cleaning &amp; EDA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07496" y="1261690"/>
            <a:ext cx="1975024" cy="537865"/>
          </a:xfrm>
          <a:prstGeom prst="roundRect">
            <a:avLst>
              <a:gd name="adj" fmla="val 2875"/>
            </a:avLst>
          </a:prstGeom>
          <a:solidFill>
            <a:srgbClr val="112836"/>
          </a:solidFill>
          <a:ln w="14288">
            <a:solidFill>
              <a:srgbClr val="4960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24846" y="1379041"/>
            <a:ext cx="1452116" cy="151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Feature Engineering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653510" y="1261690"/>
            <a:ext cx="1975098" cy="537865"/>
          </a:xfrm>
          <a:prstGeom prst="roundRect">
            <a:avLst>
              <a:gd name="adj" fmla="val 2875"/>
            </a:avLst>
          </a:prstGeom>
          <a:solidFill>
            <a:srgbClr val="112836"/>
          </a:solidFill>
          <a:ln w="14288">
            <a:solidFill>
              <a:srgbClr val="4960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70861" y="1379041"/>
            <a:ext cx="1500708" cy="151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Regression Modeling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15392" y="1906042"/>
            <a:ext cx="2918445" cy="242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Achievement Badges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15392" y="2409751"/>
            <a:ext cx="2657029" cy="526628"/>
          </a:xfrm>
          <a:prstGeom prst="roundRect">
            <a:avLst>
              <a:gd name="adj" fmla="val 13022"/>
            </a:avLst>
          </a:prstGeom>
          <a:solidFill>
            <a:srgbClr val="112836"/>
          </a:solidFill>
          <a:ln w="14288">
            <a:solidFill>
              <a:srgbClr val="4960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5392" y="2395463"/>
            <a:ext cx="2657029" cy="57150"/>
          </a:xfrm>
          <a:prstGeom prst="roundRect">
            <a:avLst>
              <a:gd name="adj" fmla="val 27058"/>
            </a:avLst>
          </a:prstGeom>
          <a:solidFill>
            <a:srgbClr val="0A988B"/>
          </a:solidFill>
          <a:ln/>
        </p:spPr>
      </p:sp>
      <p:sp>
        <p:nvSpPr>
          <p:cNvPr id="17" name="Shape 15"/>
          <p:cNvSpPr/>
          <p:nvPr/>
        </p:nvSpPr>
        <p:spPr>
          <a:xfrm>
            <a:off x="1689274" y="2255118"/>
            <a:ext cx="309265" cy="309265"/>
          </a:xfrm>
          <a:prstGeom prst="roundRect">
            <a:avLst>
              <a:gd name="adj" fmla="val 184793"/>
            </a:avLst>
          </a:prstGeom>
          <a:solidFill>
            <a:srgbClr val="0A988B"/>
          </a:solidFill>
          <a:ln/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2068" y="2347912"/>
            <a:ext cx="123676" cy="12367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32743" y="2667446"/>
            <a:ext cx="1633835" cy="151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End-to-End ML Pipeline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243411" y="2409751"/>
            <a:ext cx="2657103" cy="526628"/>
          </a:xfrm>
          <a:prstGeom prst="roundRect">
            <a:avLst>
              <a:gd name="adj" fmla="val 13022"/>
            </a:avLst>
          </a:prstGeom>
          <a:solidFill>
            <a:srgbClr val="112836"/>
          </a:solidFill>
          <a:ln w="14288">
            <a:solidFill>
              <a:srgbClr val="49606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243411" y="2395463"/>
            <a:ext cx="2657103" cy="57150"/>
          </a:xfrm>
          <a:prstGeom prst="roundRect">
            <a:avLst>
              <a:gd name="adj" fmla="val 27058"/>
            </a:avLst>
          </a:prstGeom>
          <a:solidFill>
            <a:srgbClr val="0A988B"/>
          </a:solidFill>
          <a:ln/>
        </p:spPr>
      </p:sp>
      <p:sp>
        <p:nvSpPr>
          <p:cNvPr id="22" name="Shape 19"/>
          <p:cNvSpPr/>
          <p:nvPr/>
        </p:nvSpPr>
        <p:spPr>
          <a:xfrm>
            <a:off x="4417293" y="2255118"/>
            <a:ext cx="309265" cy="309265"/>
          </a:xfrm>
          <a:prstGeom prst="roundRect">
            <a:avLst>
              <a:gd name="adj" fmla="val 184793"/>
            </a:avLst>
          </a:prstGeom>
          <a:solidFill>
            <a:srgbClr val="0A988B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10088" y="2347912"/>
            <a:ext cx="123676" cy="123676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360762" y="2667446"/>
            <a:ext cx="1212800" cy="151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Explainable AI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5971505" y="2409751"/>
            <a:ext cx="2657103" cy="526628"/>
          </a:xfrm>
          <a:prstGeom prst="roundRect">
            <a:avLst>
              <a:gd name="adj" fmla="val 13022"/>
            </a:avLst>
          </a:prstGeom>
          <a:solidFill>
            <a:srgbClr val="112836"/>
          </a:solidFill>
          <a:ln w="14288">
            <a:solidFill>
              <a:srgbClr val="49606E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971505" y="2395463"/>
            <a:ext cx="2657103" cy="57150"/>
          </a:xfrm>
          <a:prstGeom prst="roundRect">
            <a:avLst>
              <a:gd name="adj" fmla="val 27058"/>
            </a:avLst>
          </a:prstGeom>
          <a:solidFill>
            <a:srgbClr val="0A988B"/>
          </a:solidFill>
          <a:ln/>
        </p:spPr>
      </p:sp>
      <p:sp>
        <p:nvSpPr>
          <p:cNvPr id="27" name="Shape 23"/>
          <p:cNvSpPr/>
          <p:nvPr/>
        </p:nvSpPr>
        <p:spPr>
          <a:xfrm>
            <a:off x="7145387" y="2255118"/>
            <a:ext cx="309265" cy="309265"/>
          </a:xfrm>
          <a:prstGeom prst="roundRect">
            <a:avLst>
              <a:gd name="adj" fmla="val 184793"/>
            </a:avLst>
          </a:prstGeom>
          <a:solidFill>
            <a:srgbClr val="0A988B"/>
          </a:solidFill>
          <a:ln/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38181" y="2347912"/>
            <a:ext cx="123676" cy="123676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088856" y="2667446"/>
            <a:ext cx="2186360" cy="151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Hyperparameter Optimization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515392" y="3162002"/>
            <a:ext cx="8113216" cy="526628"/>
          </a:xfrm>
          <a:prstGeom prst="roundRect">
            <a:avLst>
              <a:gd name="adj" fmla="val 13022"/>
            </a:avLst>
          </a:prstGeom>
          <a:solidFill>
            <a:srgbClr val="112836"/>
          </a:solidFill>
          <a:ln w="14288">
            <a:solidFill>
              <a:srgbClr val="49606E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515392" y="3147715"/>
            <a:ext cx="8113216" cy="57150"/>
          </a:xfrm>
          <a:prstGeom prst="roundRect">
            <a:avLst>
              <a:gd name="adj" fmla="val 27058"/>
            </a:avLst>
          </a:prstGeom>
          <a:solidFill>
            <a:srgbClr val="0A988B"/>
          </a:solidFill>
          <a:ln/>
        </p:spPr>
      </p:sp>
      <p:sp>
        <p:nvSpPr>
          <p:cNvPr id="32" name="Shape 27"/>
          <p:cNvSpPr/>
          <p:nvPr/>
        </p:nvSpPr>
        <p:spPr>
          <a:xfrm>
            <a:off x="4417368" y="3007370"/>
            <a:ext cx="309265" cy="309265"/>
          </a:xfrm>
          <a:prstGeom prst="roundRect">
            <a:avLst>
              <a:gd name="adj" fmla="val 184793"/>
            </a:avLst>
          </a:prstGeom>
          <a:solidFill>
            <a:srgbClr val="0A988B"/>
          </a:solidFill>
          <a:ln/>
        </p:spPr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10162" y="3100164"/>
            <a:ext cx="123676" cy="123676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632743" y="3419698"/>
            <a:ext cx="1712119" cy="151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Production Deployment</a:t>
            </a:r>
            <a:endParaRPr lang="en-US" sz="950" dirty="0"/>
          </a:p>
        </p:txBody>
      </p:sp>
      <p:sp>
        <p:nvSpPr>
          <p:cNvPr id="35" name="Text 29"/>
          <p:cNvSpPr/>
          <p:nvPr/>
        </p:nvSpPr>
        <p:spPr>
          <a:xfrm>
            <a:off x="515392" y="3768477"/>
            <a:ext cx="8570416" cy="139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This project demonstrates mastery of the complete machine learning lifecycle, from data acquisition to production deployment.</a:t>
            </a:r>
            <a:endParaRPr lang="en-US" sz="800" dirty="0"/>
          </a:p>
        </p:txBody>
      </p:sp>
      <p:sp>
        <p:nvSpPr>
          <p:cNvPr id="36" name="Text 30"/>
          <p:cNvSpPr/>
          <p:nvPr/>
        </p:nvSpPr>
        <p:spPr>
          <a:xfrm>
            <a:off x="515392" y="4014192"/>
            <a:ext cx="2397696" cy="242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Thank You</a:t>
            </a:r>
            <a:endParaRPr lang="en-US" sz="1500" dirty="0"/>
          </a:p>
        </p:txBody>
      </p:sp>
      <p:sp>
        <p:nvSpPr>
          <p:cNvPr id="37" name="Text 31"/>
          <p:cNvSpPr/>
          <p:nvPr/>
        </p:nvSpPr>
        <p:spPr>
          <a:xfrm>
            <a:off x="515392" y="4363269"/>
            <a:ext cx="8113216" cy="358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spcAft>
                <a:spcPts val="600"/>
              </a:spcAft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Questions &amp; Discussion Welcome</a:t>
            </a:r>
            <a:endParaRPr lang="en-US" sz="8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8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Rudra Patel</a:t>
            </a: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· Machine Learning Intern · Veracitiz</a:t>
            </a:r>
            <a:endParaRPr lang="en-US" sz="800" dirty="0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084AF0DE-AEDE-CFF6-13E2-69A4378F5BF0}"/>
              </a:ext>
            </a:extLst>
          </p:cNvPr>
          <p:cNvSpPr/>
          <p:nvPr/>
        </p:nvSpPr>
        <p:spPr>
          <a:xfrm>
            <a:off x="8009334" y="4813663"/>
            <a:ext cx="1068288" cy="298994"/>
          </a:xfrm>
          <a:prstGeom prst="roundRect">
            <a:avLst/>
          </a:prstGeom>
          <a:solidFill>
            <a:srgbClr val="112836"/>
          </a:solidFill>
          <a:ln>
            <a:solidFill>
              <a:srgbClr val="1128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0910" y="412105"/>
            <a:ext cx="706189" cy="157981"/>
          </a:xfrm>
          <a:prstGeom prst="roundRect">
            <a:avLst>
              <a:gd name="adj" fmla="val 6925"/>
            </a:avLst>
          </a:prstGeom>
          <a:noFill/>
          <a:ln w="4763">
            <a:solidFill>
              <a:srgbClr val="0A98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0366" y="444178"/>
            <a:ext cx="1044476" cy="93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550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12 · PROJECT LINKS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490910" y="592262"/>
            <a:ext cx="3741316" cy="268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Project Links &amp; Resources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90910" y="999158"/>
            <a:ext cx="1634430" cy="13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GitHub Repository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90910" y="1188690"/>
            <a:ext cx="3969916" cy="284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7000"/>
              </a:lnSpc>
              <a:spcAft>
                <a:spcPts val="350"/>
              </a:spcAft>
              <a:buNone/>
            </a:pPr>
            <a:r>
              <a:rPr lang="en-US" sz="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Complete source code, notebooks, and documentation</a:t>
            </a:r>
            <a:endParaRPr lang="en-US" sz="700" dirty="0"/>
          </a:p>
          <a:p>
            <a:pPr marL="0" indent="0" algn="l">
              <a:lnSpc>
                <a:spcPct val="107000"/>
              </a:lnSpc>
              <a:buNone/>
            </a:pPr>
            <a:r>
              <a:rPr lang="en-US" sz="700" u="sng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- Rudra2986/watch-price-prediction: Watch price prediction model using ML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687937" y="999158"/>
            <a:ext cx="1529730" cy="13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Live Application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687937" y="1188690"/>
            <a:ext cx="3969916" cy="284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7000"/>
              </a:lnSpc>
              <a:spcAft>
                <a:spcPts val="350"/>
              </a:spcAft>
              <a:buNone/>
            </a:pPr>
            <a:r>
              <a:rPr lang="en-US" sz="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Try Chronos AI in action</a:t>
            </a:r>
            <a:endParaRPr lang="en-US" sz="700" dirty="0"/>
          </a:p>
          <a:p>
            <a:pPr marL="0" indent="0" algn="l">
              <a:lnSpc>
                <a:spcPct val="107000"/>
              </a:lnSpc>
              <a:buNone/>
            </a:pPr>
            <a:r>
              <a:rPr lang="en-US" sz="700" u="sng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Chronos AI — Watch Price Intelligence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90910" y="1608460"/>
            <a:ext cx="8162181" cy="6772"/>
          </a:xfrm>
          <a:prstGeom prst="rect">
            <a:avLst/>
          </a:prstGeom>
          <a:solidFill>
            <a:srgbClr val="CAD6DE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90910" y="1755949"/>
            <a:ext cx="2216869" cy="13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GitHub Repository QR Code</a:t>
            </a:r>
            <a:endParaRPr lang="en-US" sz="8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910" y="1952402"/>
            <a:ext cx="2536775" cy="253677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687937" y="1755949"/>
            <a:ext cx="2058963" cy="13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Live Application QR Code</a:t>
            </a:r>
            <a:endParaRPr lang="en-US" sz="8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7937" y="1952402"/>
            <a:ext cx="2536775" cy="253677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2310" y="4614044"/>
            <a:ext cx="8390781" cy="117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7000"/>
              </a:lnSpc>
              <a:buNone/>
            </a:pPr>
            <a:r>
              <a:rPr lang="en-US" sz="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Scan to access the project or visit the links above</a:t>
            </a:r>
            <a:endParaRPr lang="en-US" sz="7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5B40400-B6B0-E199-5E81-FDC8B69FD1F8}"/>
              </a:ext>
            </a:extLst>
          </p:cNvPr>
          <p:cNvSpPr/>
          <p:nvPr/>
        </p:nvSpPr>
        <p:spPr>
          <a:xfrm>
            <a:off x="8009334" y="4813663"/>
            <a:ext cx="1068288" cy="298994"/>
          </a:xfrm>
          <a:prstGeom prst="roundRect">
            <a:avLst/>
          </a:prstGeom>
          <a:solidFill>
            <a:srgbClr val="112836"/>
          </a:solidFill>
          <a:ln>
            <a:solidFill>
              <a:srgbClr val="1128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1376</Words>
  <Application>Microsoft Office PowerPoint</Application>
  <PresentationFormat>On-screen Show (16:9)</PresentationFormat>
  <Paragraphs>301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Unbounded</vt:lpstr>
      <vt:lpstr>Unbounded Light</vt:lpstr>
      <vt:lpstr>Cabin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Rudra Patel</cp:lastModifiedBy>
  <cp:revision>2</cp:revision>
  <cp:lastPrinted>2026-06-02T04:58:41Z</cp:lastPrinted>
  <dcterms:created xsi:type="dcterms:W3CDTF">2026-06-02T04:50:02Z</dcterms:created>
  <dcterms:modified xsi:type="dcterms:W3CDTF">2026-06-02T05:04:01Z</dcterms:modified>
</cp:coreProperties>
</file>